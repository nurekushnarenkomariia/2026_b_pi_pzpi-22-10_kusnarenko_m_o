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9"/>
  </p:notesMasterIdLst>
  <p:handoutMasterIdLst>
    <p:handoutMasterId r:id="rId20"/>
  </p:handoutMasterIdLst>
  <p:sldIdLst>
    <p:sldId id="268" r:id="rId2"/>
    <p:sldId id="257" r:id="rId3"/>
    <p:sldId id="259" r:id="rId4"/>
    <p:sldId id="280" r:id="rId5"/>
    <p:sldId id="260" r:id="rId6"/>
    <p:sldId id="274" r:id="rId7"/>
    <p:sldId id="261" r:id="rId8"/>
    <p:sldId id="262" r:id="rId9"/>
    <p:sldId id="275" r:id="rId10"/>
    <p:sldId id="263" r:id="rId11"/>
    <p:sldId id="276" r:id="rId12"/>
    <p:sldId id="277" r:id="rId13"/>
    <p:sldId id="264" r:id="rId14"/>
    <p:sldId id="265" r:id="rId15"/>
    <p:sldId id="266" r:id="rId16"/>
    <p:sldId id="279" r:id="rId17"/>
    <p:sldId id="273" r:id="rId18"/>
  </p:sldIdLst>
  <p:sldSz cx="12192000" cy="6858000"/>
  <p:notesSz cx="6858000" cy="9144000"/>
  <p:embeddedFontLst>
    <p:embeddedFont>
      <p:font typeface="Bahnschrift Light" panose="020B0502040204020203" pitchFamily="34" charset="0"/>
      <p:regular r:id="rId21"/>
    </p:embeddedFont>
    <p:embeddedFont>
      <p:font typeface="Barlow Condensed Bold" panose="020B0604020202020204" charset="0"/>
      <p:regular r:id="rId22"/>
      <p:bold r:id="rId23"/>
    </p:embeddedFont>
    <p:embeddedFont>
      <p:font typeface="Barlow Condensed Semi-Bold" panose="020B0604020202020204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Open Sans" pitchFamily="2" charset="0"/>
      <p:regular r:id="rId29"/>
      <p:bold r:id="rId30"/>
      <p:italic r:id="rId31"/>
      <p:boldItalic r:id="rId32"/>
    </p:embeddedFont>
    <p:embeddedFont>
      <p:font typeface="Playfair Display" panose="00000500000000000000" pitchFamily="2" charset="-52"/>
      <p:regular r:id="rId33"/>
      <p:bold r:id="rId34"/>
      <p:italic r:id="rId35"/>
      <p:boldItalic r:id="rId36"/>
    </p:embeddedFont>
    <p:embeddedFont>
      <p:font typeface="Urbanist" panose="020B0604020202020204" charset="0"/>
      <p:regular r:id="rId37"/>
      <p:bold r:id="rId38"/>
      <p:italic r:id="rId39"/>
      <p:boldItalic r:id="rId40"/>
    </p:embeddedFont>
    <p:embeddedFont>
      <p:font typeface="Urbanist Medium" panose="020B060402020202020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8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4" Type="http://schemas.openxmlformats.org/officeDocument/2006/relationships/font" Target="fonts/font2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font" Target="fonts/font23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viewProps" Target="viewProps.xml"/><Relationship Id="rId20" Type="http://schemas.openxmlformats.org/officeDocument/2006/relationships/handoutMaster" Target="handoutMasters/handoutMaster1.xml"/><Relationship Id="rId41" Type="http://schemas.openxmlformats.org/officeDocument/2006/relationships/font" Target="fonts/font2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E93DC45-7A47-4334-AED3-27FA0D4E00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FFDBFD5-144E-44B3-9B79-CC939F48EA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47482-D2FB-46EA-9B24-AA991CED8DE2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B2CB33B-24B5-4720-8D5B-2AE123D8EC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03681D-0631-4408-A2BC-3C6B268A0C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A41FB-39CB-4A02-B3AB-3AAC29475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015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8485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1716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0644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297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4232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8968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userDrawn="1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E0177412-C369-4F38-8472-A176918AC9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142489AB-110E-4A94-AF7E-C338B84020C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6C35BCA-2496-4225-9C25-4C90ECA3A6E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601200" y="6356349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gif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3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gif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5384" y="-111643"/>
            <a:ext cx="12897391" cy="6969643"/>
          </a:xfrm>
          <a:custGeom>
            <a:avLst/>
            <a:gdLst/>
            <a:ahLst/>
            <a:cxnLst/>
            <a:rect l="l" t="t" r="r" b="b"/>
            <a:pathLst>
              <a:path w="19346087" h="10454464">
                <a:moveTo>
                  <a:pt x="0" y="0"/>
                </a:moveTo>
                <a:lnTo>
                  <a:pt x="19346086" y="0"/>
                </a:lnTo>
                <a:lnTo>
                  <a:pt x="19346086" y="10454464"/>
                </a:lnTo>
                <a:lnTo>
                  <a:pt x="0" y="10454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09" r="-310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5695" y="55062"/>
            <a:ext cx="8772555" cy="63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38"/>
              </a:lnSpc>
            </a:pPr>
            <a:r>
              <a:rPr lang="en-US" sz="1702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Харківський національний університет радіоелектроніки</a:t>
            </a:r>
          </a:p>
          <a:p>
            <a:pPr>
              <a:lnSpc>
                <a:spcPts val="2638"/>
              </a:lnSpc>
            </a:pPr>
            <a:r>
              <a:rPr lang="en-US" sz="1702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Кваліфікаційна робота бакалавра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695" y="5753062"/>
            <a:ext cx="8772555" cy="75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02"/>
              </a:lnSpc>
            </a:pPr>
            <a:r>
              <a:rPr lang="en-US" sz="1835" dirty="0" err="1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Підготувала</a:t>
            </a:r>
            <a:r>
              <a:rPr lang="en-US" sz="1835" dirty="0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1835" dirty="0" err="1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ст</a:t>
            </a:r>
            <a:r>
              <a:rPr lang="en-US" sz="1835" dirty="0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1835" dirty="0" err="1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гр</a:t>
            </a:r>
            <a:r>
              <a:rPr lang="en-US" sz="1835" dirty="0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. ПЗПІ-22-2 </a:t>
            </a:r>
            <a:r>
              <a:rPr lang="ru-RU" sz="1835" dirty="0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Кушнаренко. М.О.</a:t>
            </a:r>
            <a:endParaRPr lang="en-US" sz="1835" dirty="0">
              <a:solidFill>
                <a:srgbClr val="FCCD8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102"/>
              </a:lnSpc>
            </a:pPr>
            <a:r>
              <a:rPr lang="en-US" sz="1835" dirty="0" err="1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Науковий</a:t>
            </a:r>
            <a:r>
              <a:rPr lang="en-US" sz="1835" dirty="0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35" dirty="0" err="1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керівник</a:t>
            </a:r>
            <a:r>
              <a:rPr lang="en-US" sz="1835" dirty="0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1835" dirty="0" err="1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ст</a:t>
            </a:r>
            <a:r>
              <a:rPr lang="en-US" sz="1835" dirty="0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1835" dirty="0" err="1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викл</a:t>
            </a:r>
            <a:r>
              <a:rPr lang="en-US" sz="1835" dirty="0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1835" dirty="0" err="1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каф</a:t>
            </a:r>
            <a:r>
              <a:rPr lang="en-US" sz="1835" dirty="0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. ПІ </a:t>
            </a:r>
            <a:r>
              <a:rPr lang="en-US" sz="1835" dirty="0" err="1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Новіков</a:t>
            </a:r>
            <a:r>
              <a:rPr lang="en-US" sz="1835" dirty="0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rPr>
              <a:t> Ю.С.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48025" y="861622"/>
            <a:ext cx="10890571" cy="2699954"/>
            <a:chOff x="0" y="38100"/>
            <a:chExt cx="19939490" cy="5809884"/>
          </a:xfrm>
        </p:grpSpPr>
        <p:sp>
          <p:nvSpPr>
            <p:cNvPr id="6" name="TextBox 6"/>
            <p:cNvSpPr txBox="1"/>
            <p:nvPr/>
          </p:nvSpPr>
          <p:spPr>
            <a:xfrm>
              <a:off x="0" y="1213766"/>
              <a:ext cx="19939490" cy="4634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15"/>
                </a:lnSpc>
              </a:pPr>
              <a:r>
                <a:rPr lang="en-US" sz="4253" spc="-115" dirty="0">
                  <a:solidFill>
                    <a:srgbClr val="FCCD8D"/>
                  </a:solidFill>
                  <a:latin typeface="Barlow Condensed Semi-Bold"/>
                  <a:ea typeface="Barlow Condensed Semi-Bold"/>
                  <a:cs typeface="Barlow Condensed Semi-Bold"/>
                  <a:sym typeface="Barlow Condensed Semi-Bold"/>
                </a:rPr>
                <a:t>ІГРОВЕ  ПРОГРАМНЕ  ЗАБЕЗПЕЧЕННЯ  В  ЖАНРІ  ADVENTURE НА  РУШІЇ  UNREAL  ENGINE 5.</a:t>
              </a:r>
              <a:r>
                <a:rPr lang="ru-RU" sz="4253" spc="-115" dirty="0">
                  <a:solidFill>
                    <a:srgbClr val="FCCD8D"/>
                  </a:solidFill>
                  <a:latin typeface="Barlow Condensed Semi-Bold"/>
                  <a:ea typeface="Barlow Condensed Semi-Bold"/>
                  <a:cs typeface="Barlow Condensed Semi-Bold"/>
                  <a:sym typeface="Barlow Condensed Semi-Bold"/>
                </a:rPr>
                <a:t> </a:t>
              </a:r>
              <a:r>
                <a:rPr lang="ru-RU" sz="4400" dirty="0" err="1">
                  <a:solidFill>
                    <a:srgbClr val="FCCD8D"/>
                  </a:solidFill>
                  <a:latin typeface="Open Sans"/>
                  <a:ea typeface="Open Sans"/>
                  <a:cs typeface="Open Sans"/>
                  <a:sym typeface="Open Sans"/>
                </a:rPr>
                <a:t>Ігровий</a:t>
              </a:r>
              <a:r>
                <a:rPr lang="ru-RU" sz="4400" dirty="0">
                  <a:solidFill>
                    <a:srgbClr val="FCCD8D"/>
                  </a:solidFill>
                  <a:latin typeface="Open Sans"/>
                  <a:ea typeface="Open Sans"/>
                  <a:cs typeface="Open Sans"/>
                  <a:sym typeface="Open Sans"/>
                </a:rPr>
                <a:t> баланс, </a:t>
              </a:r>
              <a:r>
                <a:rPr lang="ru-RU" sz="4400" dirty="0" err="1">
                  <a:solidFill>
                    <a:srgbClr val="FCCD8D"/>
                  </a:solidFill>
                  <a:latin typeface="Open Sans"/>
                  <a:ea typeface="Open Sans"/>
                  <a:cs typeface="Open Sans"/>
                  <a:sym typeface="Open Sans"/>
                </a:rPr>
                <a:t>діалогова</a:t>
              </a:r>
              <a:r>
                <a:rPr lang="ru-RU" sz="4400" dirty="0">
                  <a:solidFill>
                    <a:srgbClr val="FCCD8D"/>
                  </a:solidFill>
                  <a:latin typeface="Open Sans"/>
                  <a:ea typeface="Open Sans"/>
                  <a:cs typeface="Open Sans"/>
                  <a:sym typeface="Open Sans"/>
                </a:rPr>
                <a:t> система та </a:t>
              </a:r>
              <a:r>
                <a:rPr lang="ru-RU" sz="4400" dirty="0" err="1">
                  <a:solidFill>
                    <a:srgbClr val="FCCD8D"/>
                  </a:solidFill>
                  <a:latin typeface="Open Sans"/>
                  <a:ea typeface="Open Sans"/>
                  <a:cs typeface="Open Sans"/>
                  <a:sym typeface="Open Sans"/>
                </a:rPr>
                <a:t>квести</a:t>
              </a:r>
              <a:endParaRPr lang="en-US" sz="4400" dirty="0">
                <a:solidFill>
                  <a:srgbClr val="FCCD8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ctr">
                <a:lnSpc>
                  <a:spcPts val="3615"/>
                </a:lnSpc>
              </a:pPr>
              <a:endParaRPr lang="en-US" sz="4253" b="1" spc="-115" dirty="0">
                <a:solidFill>
                  <a:srgbClr val="FCCD8D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987474" y="38100"/>
              <a:ext cx="6694834" cy="1073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31"/>
                </a:lnSpc>
              </a:pPr>
              <a:endParaRPr sz="933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02630" y="6197101"/>
            <a:ext cx="4677727" cy="30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8"/>
              </a:lnSpc>
              <a:spcBef>
                <a:spcPct val="0"/>
              </a:spcBef>
            </a:pPr>
            <a:endParaRPr lang="en-US" sz="1702" dirty="0">
              <a:solidFill>
                <a:srgbClr val="FCCD8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508109" y="6140450"/>
            <a:ext cx="97784" cy="22685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867"/>
              </a:lnSpc>
              <a:spcBef>
                <a:spcPct val="0"/>
              </a:spcBef>
            </a:pPr>
            <a:r>
              <a:rPr lang="en-US" sz="1333"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2">
            <a:extLst>
              <a:ext uri="{FF2B5EF4-FFF2-40B4-BE49-F238E27FC236}">
                <a16:creationId xmlns:a16="http://schemas.microsoft.com/office/drawing/2014/main" id="{2CA97042-F432-400C-B560-EA6DED98FD15}"/>
              </a:ext>
            </a:extLst>
          </p:cNvPr>
          <p:cNvSpPr/>
          <p:nvPr/>
        </p:nvSpPr>
        <p:spPr>
          <a:xfrm>
            <a:off x="-6793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982357" h="10287000">
                <a:moveTo>
                  <a:pt x="0" y="0"/>
                </a:moveTo>
                <a:lnTo>
                  <a:pt x="18982357" y="0"/>
                </a:lnTo>
                <a:lnTo>
                  <a:pt x="1898235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57" r="-4057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8ECCAB5D-1F5A-4EE6-873A-375DD89552F1}"/>
              </a:ext>
            </a:extLst>
          </p:cNvPr>
          <p:cNvSpPr/>
          <p:nvPr/>
        </p:nvSpPr>
        <p:spPr>
          <a:xfrm>
            <a:off x="173868" y="1504950"/>
            <a:ext cx="11708404" cy="5224324"/>
          </a:xfrm>
          <a:custGeom>
            <a:avLst/>
            <a:gdLst/>
            <a:ahLst/>
            <a:cxnLst/>
            <a:rect l="l" t="t" r="r" b="b"/>
            <a:pathLst>
              <a:path w="18288000" h="8594388">
                <a:moveTo>
                  <a:pt x="0" y="0"/>
                </a:moveTo>
                <a:lnTo>
                  <a:pt x="18288000" y="0"/>
                </a:lnTo>
                <a:lnTo>
                  <a:pt x="18288000" y="8594388"/>
                </a:lnTo>
                <a:lnTo>
                  <a:pt x="0" y="859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4700" r="-4700"/>
            </a:stretch>
          </a:blipFill>
        </p:spPr>
        <p:txBody>
          <a:bodyPr/>
          <a:lstStyle/>
          <a:p>
            <a:r>
              <a:rPr lang="uk-UA" sz="2400" dirty="0"/>
              <a:t>мм</a:t>
            </a:r>
            <a:endParaRPr lang="ru-RU" sz="2400" dirty="0"/>
          </a:p>
        </p:txBody>
      </p:sp>
      <p:sp>
        <p:nvSpPr>
          <p:cNvPr id="102" name="Google Shape;102;p14"/>
          <p:cNvSpPr/>
          <p:nvPr/>
        </p:nvSpPr>
        <p:spPr>
          <a:xfrm>
            <a:off x="485775" y="485775"/>
            <a:ext cx="57300" cy="533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3075" y="4551887"/>
            <a:ext cx="11220449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4925" y="2180162"/>
            <a:ext cx="5419725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15150" y="2180162"/>
            <a:ext cx="5419725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33575" y="4932887"/>
            <a:ext cx="10839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Методи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Blueprints, Data-Driven Design, UML-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моделювання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Event-Driven Architecture.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838350" y="2704037"/>
            <a:ext cx="507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Об'єкт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838350" y="3170762"/>
            <a:ext cx="4829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Програмне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забезпечення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для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реалізації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підсистем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детективної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пригодницької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гри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на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базі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Unreal Engine 5.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6639075" y="2704037"/>
            <a:ext cx="507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Мета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39075" y="3170762"/>
            <a:ext cx="4829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Створення взаємопов'язаної екосистеми діалогів, квестів та адаптивного балансу для розслідування.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6275" y="485775"/>
            <a:ext cx="5220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Мета</a:t>
            </a:r>
            <a:r>
              <a:rPr lang="en-US" sz="3150" b="1" i="0" u="none" strike="noStrike" cap="none" dirty="0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3150" b="1" i="0" u="none" strike="noStrike" cap="none" dirty="0" err="1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та</a:t>
            </a:r>
            <a:r>
              <a:rPr lang="en-US" sz="3150" b="1" i="0" u="none" strike="noStrike" cap="none" dirty="0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3150" b="1" i="0" u="none" strike="noStrike" cap="none" dirty="0" err="1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Об'єкт</a:t>
            </a:r>
            <a:r>
              <a:rPr lang="en-US" sz="3150" b="1" i="0" u="none" strike="noStrike" cap="none" dirty="0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3150" b="1" i="0" u="none" strike="noStrike" cap="none" dirty="0" err="1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Розробки</a:t>
            </a:r>
            <a:endParaRPr dirty="0"/>
          </a:p>
        </p:txBody>
      </p:sp>
      <p:sp>
        <p:nvSpPr>
          <p:cNvPr id="16" name="Google Shape;101;p14">
            <a:extLst>
              <a:ext uri="{FF2B5EF4-FFF2-40B4-BE49-F238E27FC236}">
                <a16:creationId xmlns:a16="http://schemas.microsoft.com/office/drawing/2014/main" id="{C0E73ADD-4DDA-4C7C-A332-E139A6159942}"/>
              </a:ext>
            </a:extLst>
          </p:cNvPr>
          <p:cNvSpPr txBox="1"/>
          <p:nvPr/>
        </p:nvSpPr>
        <p:spPr>
          <a:xfrm>
            <a:off x="11449401" y="6145027"/>
            <a:ext cx="53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8FAFC"/>
                </a:solidFill>
                <a:latin typeface="Playfair Display"/>
                <a:sym typeface="Playfair Display"/>
              </a:rPr>
              <a:t>2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2">
            <a:extLst>
              <a:ext uri="{FF2B5EF4-FFF2-40B4-BE49-F238E27FC236}">
                <a16:creationId xmlns:a16="http://schemas.microsoft.com/office/drawing/2014/main" id="{16D0661D-0C55-41A8-859B-BE9A86E052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855697" h="10287000">
                <a:moveTo>
                  <a:pt x="0" y="0"/>
                </a:moveTo>
                <a:lnTo>
                  <a:pt x="18855697" y="0"/>
                </a:lnTo>
                <a:lnTo>
                  <a:pt x="1885569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69" r="-5669"/>
            </a:stretch>
          </a:blipFill>
        </p:spPr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DF86E0DF-990F-4EDE-B16C-A1DC17E9A085}"/>
              </a:ext>
            </a:extLst>
          </p:cNvPr>
          <p:cNvSpPr/>
          <p:nvPr/>
        </p:nvSpPr>
        <p:spPr>
          <a:xfrm>
            <a:off x="338504" y="1448657"/>
            <a:ext cx="11568793" cy="5227510"/>
          </a:xfrm>
          <a:custGeom>
            <a:avLst/>
            <a:gdLst/>
            <a:ahLst/>
            <a:cxnLst/>
            <a:rect l="l" t="t" r="r" b="b"/>
            <a:pathLst>
              <a:path w="18288000" h="8594388">
                <a:moveTo>
                  <a:pt x="0" y="0"/>
                </a:moveTo>
                <a:lnTo>
                  <a:pt x="18288000" y="0"/>
                </a:lnTo>
                <a:lnTo>
                  <a:pt x="18288000" y="8594388"/>
                </a:lnTo>
                <a:lnTo>
                  <a:pt x="0" y="859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4700" r="-4700"/>
            </a:stretch>
          </a:blipFill>
        </p:spPr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2662237"/>
            <a:ext cx="361310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9375" y="2662237"/>
            <a:ext cx="361310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2975" y="2662237"/>
            <a:ext cx="361310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655479" y="3595687"/>
            <a:ext cx="32736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Тупикові стани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33425" y="4062412"/>
            <a:ext cx="3117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Зупинка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прогресу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через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складність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пазлів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або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"pixel hunting".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4459080" y="3595687"/>
            <a:ext cx="32736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Статичний наратив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537025" y="4062412"/>
            <a:ext cx="3117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Діалоги, що не реагують на знахідки гравця та стан світу.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262680" y="3595687"/>
            <a:ext cx="32736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Когнітивний вакуум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340625" y="4062412"/>
            <a:ext cx="3117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Втрата гравцем розуміння подальших кроків розслідування.</a:t>
            </a:r>
            <a:endParaRPr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49375" y="293846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57726" y="29384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08951" y="29384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676275" y="485775"/>
            <a:ext cx="6230778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Виявлені Системні Проблеми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485775" y="485775"/>
            <a:ext cx="57150" cy="533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01;p14">
            <a:extLst>
              <a:ext uri="{FF2B5EF4-FFF2-40B4-BE49-F238E27FC236}">
                <a16:creationId xmlns:a16="http://schemas.microsoft.com/office/drawing/2014/main" id="{29FBA6AE-F615-4980-901A-A22CE6E68654}"/>
              </a:ext>
            </a:extLst>
          </p:cNvPr>
          <p:cNvSpPr txBox="1"/>
          <p:nvPr/>
        </p:nvSpPr>
        <p:spPr>
          <a:xfrm>
            <a:off x="11449401" y="6145027"/>
            <a:ext cx="53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8FAFC"/>
                </a:solidFill>
                <a:latin typeface="Playfair Display"/>
                <a:sym typeface="Playfair Display"/>
              </a:rPr>
              <a:t>3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2">
            <a:extLst>
              <a:ext uri="{FF2B5EF4-FFF2-40B4-BE49-F238E27FC236}">
                <a16:creationId xmlns:a16="http://schemas.microsoft.com/office/drawing/2014/main" id="{16D0661D-0C55-41A8-859B-BE9A86E052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855697" h="10287000">
                <a:moveTo>
                  <a:pt x="0" y="0"/>
                </a:moveTo>
                <a:lnTo>
                  <a:pt x="18855697" y="0"/>
                </a:lnTo>
                <a:lnTo>
                  <a:pt x="1885569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69" r="-5669"/>
            </a:stretch>
          </a:blipFill>
        </p:spPr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DF86E0DF-990F-4EDE-B16C-A1DC17E9A085}"/>
              </a:ext>
            </a:extLst>
          </p:cNvPr>
          <p:cNvSpPr/>
          <p:nvPr/>
        </p:nvSpPr>
        <p:spPr>
          <a:xfrm>
            <a:off x="211494" y="1337780"/>
            <a:ext cx="11568793" cy="5227510"/>
          </a:xfrm>
          <a:custGeom>
            <a:avLst/>
            <a:gdLst/>
            <a:ahLst/>
            <a:cxnLst/>
            <a:rect l="l" t="t" r="r" b="b"/>
            <a:pathLst>
              <a:path w="18288000" h="8594388">
                <a:moveTo>
                  <a:pt x="0" y="0"/>
                </a:moveTo>
                <a:lnTo>
                  <a:pt x="18288000" y="0"/>
                </a:lnTo>
                <a:lnTo>
                  <a:pt x="18288000" y="8594388"/>
                </a:lnTo>
                <a:lnTo>
                  <a:pt x="0" y="859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4700" r="-4700"/>
            </a:stretch>
          </a:blipFill>
        </p:spPr>
      </p:sp>
      <p:sp>
        <p:nvSpPr>
          <p:cNvPr id="138" name="Google Shape;138;p16"/>
          <p:cNvSpPr txBox="1"/>
          <p:nvPr/>
        </p:nvSpPr>
        <p:spPr>
          <a:xfrm>
            <a:off x="676274" y="485775"/>
            <a:ext cx="1036967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150" b="1" i="0" u="none" strike="noStrike" cap="none" dirty="0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Структура комплексного </a:t>
            </a:r>
            <a:r>
              <a:rPr lang="ru-RU" sz="3150" b="1" i="0" u="none" strike="noStrike" cap="none" dirty="0" err="1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проєкту</a:t>
            </a:r>
            <a:endParaRPr lang="ru-RU" dirty="0"/>
          </a:p>
        </p:txBody>
      </p:sp>
      <p:sp>
        <p:nvSpPr>
          <p:cNvPr id="139" name="Google Shape;139;p16"/>
          <p:cNvSpPr/>
          <p:nvPr/>
        </p:nvSpPr>
        <p:spPr>
          <a:xfrm>
            <a:off x="485775" y="485775"/>
            <a:ext cx="57150" cy="533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01;p14">
            <a:extLst>
              <a:ext uri="{FF2B5EF4-FFF2-40B4-BE49-F238E27FC236}">
                <a16:creationId xmlns:a16="http://schemas.microsoft.com/office/drawing/2014/main" id="{29FBA6AE-F615-4980-901A-A22CE6E68654}"/>
              </a:ext>
            </a:extLst>
          </p:cNvPr>
          <p:cNvSpPr txBox="1"/>
          <p:nvPr/>
        </p:nvSpPr>
        <p:spPr>
          <a:xfrm>
            <a:off x="11449401" y="6145027"/>
            <a:ext cx="53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8FAFC"/>
                </a:solidFill>
                <a:latin typeface="Playfair Display"/>
                <a:sym typeface="Playfair Display"/>
              </a:rPr>
              <a:t>4</a:t>
            </a:r>
            <a:endParaRPr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58F897-B195-4881-9F43-2003DE0CA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7667" y="1221310"/>
            <a:ext cx="8628294" cy="5293049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676329F-A924-4EBB-AEDD-CD48286687F7}"/>
              </a:ext>
            </a:extLst>
          </p:cNvPr>
          <p:cNvSpPr/>
          <p:nvPr/>
        </p:nvSpPr>
        <p:spPr>
          <a:xfrm>
            <a:off x="4981353" y="1733107"/>
            <a:ext cx="2727252" cy="138223"/>
          </a:xfrm>
          <a:prstGeom prst="rect">
            <a:avLst/>
          </a:prstGeom>
          <a:solidFill>
            <a:srgbClr val="DDE8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352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">
            <a:extLst>
              <a:ext uri="{FF2B5EF4-FFF2-40B4-BE49-F238E27FC236}">
                <a16:creationId xmlns:a16="http://schemas.microsoft.com/office/drawing/2014/main" id="{B94F34C2-6D58-4A48-966B-BB423CE701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778904" h="10055148">
                <a:moveTo>
                  <a:pt x="0" y="0"/>
                </a:moveTo>
                <a:lnTo>
                  <a:pt x="18778904" y="0"/>
                </a:lnTo>
                <a:lnTo>
                  <a:pt x="18778904" y="10055148"/>
                </a:lnTo>
                <a:lnTo>
                  <a:pt x="0" y="1005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18" r="-2518"/>
            </a:stretch>
          </a:blipFill>
        </p:spPr>
        <p:txBody>
          <a:bodyPr/>
          <a:lstStyle/>
          <a:p>
            <a:r>
              <a:rPr lang="ru-RU" dirty="0"/>
              <a:t>сс</a:t>
            </a: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76698D9B-0DB3-4EA5-86AF-CE0241806105}"/>
              </a:ext>
            </a:extLst>
          </p:cNvPr>
          <p:cNvSpPr/>
          <p:nvPr/>
        </p:nvSpPr>
        <p:spPr>
          <a:xfrm>
            <a:off x="114300" y="1692612"/>
            <a:ext cx="11856876" cy="5081412"/>
          </a:xfrm>
          <a:custGeom>
            <a:avLst/>
            <a:gdLst/>
            <a:ahLst/>
            <a:cxnLst/>
            <a:rect l="l" t="t" r="r" b="b"/>
            <a:pathLst>
              <a:path w="18288000" h="8594388">
                <a:moveTo>
                  <a:pt x="0" y="0"/>
                </a:moveTo>
                <a:lnTo>
                  <a:pt x="18288000" y="0"/>
                </a:lnTo>
                <a:lnTo>
                  <a:pt x="18288000" y="8594388"/>
                </a:lnTo>
                <a:lnTo>
                  <a:pt x="0" y="859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4700" r="-4700"/>
            </a:stretch>
          </a:blipFill>
        </p:spPr>
        <p:txBody>
          <a:bodyPr/>
          <a:lstStyle/>
          <a:p>
            <a:r>
              <a:rPr lang="ru-RU" dirty="0"/>
              <a:t>с</a:t>
            </a:r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85775" y="3457128"/>
            <a:ext cx="5419725" cy="96663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485775" y="2990403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Модель</a:t>
            </a:r>
            <a:r>
              <a:rPr lang="en-US" sz="18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CLI (Cognitive Load Index)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90142" y="3742878"/>
            <a:ext cx="2210841" cy="3951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676275" y="485775"/>
            <a:ext cx="884371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150" b="1" i="0" u="none" strike="noStrike" cap="none" dirty="0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Модель Адаптивного </a:t>
            </a:r>
            <a:r>
              <a:rPr lang="ru-RU" sz="3150" b="1" i="0" u="none" strike="noStrike" cap="none" dirty="0" err="1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Ігрового</a:t>
            </a:r>
            <a:r>
              <a:rPr lang="ru-RU" sz="3150" b="1" i="0" u="none" strike="noStrike" cap="none" dirty="0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Балансу</a:t>
            </a:r>
            <a:endParaRPr lang="ru-RU" dirty="0"/>
          </a:p>
        </p:txBody>
      </p:sp>
      <p:sp>
        <p:nvSpPr>
          <p:cNvPr id="151" name="Google Shape;151;p17"/>
          <p:cNvSpPr/>
          <p:nvPr/>
        </p:nvSpPr>
        <p:spPr>
          <a:xfrm>
            <a:off x="485775" y="485775"/>
            <a:ext cx="57150" cy="533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19F892-8BC1-4872-8824-22E584D095C1}"/>
              </a:ext>
            </a:extLst>
          </p:cNvPr>
          <p:cNvPicPr/>
          <p:nvPr/>
        </p:nvPicPr>
        <p:blipFill rotWithShape="1">
          <a:blip r:embed="rId7"/>
          <a:srcRect l="2988" t="17045" r="36495" b="9242"/>
          <a:stretch/>
        </p:blipFill>
        <p:spPr bwMode="auto">
          <a:xfrm>
            <a:off x="6372614" y="2165731"/>
            <a:ext cx="5222774" cy="3496159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Google Shape;101;p14">
            <a:extLst>
              <a:ext uri="{FF2B5EF4-FFF2-40B4-BE49-F238E27FC236}">
                <a16:creationId xmlns:a16="http://schemas.microsoft.com/office/drawing/2014/main" id="{AF0126A4-8517-42BD-AFBB-81216645C7FE}"/>
              </a:ext>
            </a:extLst>
          </p:cNvPr>
          <p:cNvSpPr txBox="1"/>
          <p:nvPr/>
        </p:nvSpPr>
        <p:spPr>
          <a:xfrm>
            <a:off x="11449401" y="6145027"/>
            <a:ext cx="53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8FAFC"/>
                </a:solidFill>
                <a:latin typeface="Playfair Display"/>
                <a:sym typeface="Playfair Display"/>
              </a:rPr>
              <a:t>5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">
            <a:extLst>
              <a:ext uri="{FF2B5EF4-FFF2-40B4-BE49-F238E27FC236}">
                <a16:creationId xmlns:a16="http://schemas.microsoft.com/office/drawing/2014/main" id="{B94F34C2-6D58-4A48-966B-BB423CE701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778904" h="10055148">
                <a:moveTo>
                  <a:pt x="0" y="0"/>
                </a:moveTo>
                <a:lnTo>
                  <a:pt x="18778904" y="0"/>
                </a:lnTo>
                <a:lnTo>
                  <a:pt x="18778904" y="10055148"/>
                </a:lnTo>
                <a:lnTo>
                  <a:pt x="0" y="1005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18" r="-2518"/>
            </a:stretch>
          </a:blipFill>
        </p:spPr>
        <p:txBody>
          <a:bodyPr/>
          <a:lstStyle/>
          <a:p>
            <a:r>
              <a:rPr lang="ru-RU" dirty="0"/>
              <a:t>сс</a:t>
            </a: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76698D9B-0DB3-4EA5-86AF-CE0241806105}"/>
              </a:ext>
            </a:extLst>
          </p:cNvPr>
          <p:cNvSpPr/>
          <p:nvPr/>
        </p:nvSpPr>
        <p:spPr>
          <a:xfrm>
            <a:off x="114300" y="1412111"/>
            <a:ext cx="11807190" cy="5301205"/>
          </a:xfrm>
          <a:custGeom>
            <a:avLst/>
            <a:gdLst/>
            <a:ahLst/>
            <a:cxnLst/>
            <a:rect l="l" t="t" r="r" b="b"/>
            <a:pathLst>
              <a:path w="18288000" h="8594388">
                <a:moveTo>
                  <a:pt x="0" y="0"/>
                </a:moveTo>
                <a:lnTo>
                  <a:pt x="18288000" y="0"/>
                </a:lnTo>
                <a:lnTo>
                  <a:pt x="18288000" y="8594388"/>
                </a:lnTo>
                <a:lnTo>
                  <a:pt x="0" y="859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4700" r="-4700"/>
            </a:stretch>
          </a:blipFill>
        </p:spPr>
        <p:txBody>
          <a:bodyPr/>
          <a:lstStyle/>
          <a:p>
            <a:r>
              <a:rPr lang="ru-RU" dirty="0"/>
              <a:t>с</a:t>
            </a:r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90142" y="3742878"/>
            <a:ext cx="2210841" cy="3951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676275" y="485775"/>
            <a:ext cx="928587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150" b="1" i="0" u="none" strike="noStrike" cap="none" dirty="0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Структура </a:t>
            </a:r>
            <a:r>
              <a:rPr lang="ru-RU" sz="3150" b="1" i="0" u="none" strike="noStrike" cap="none" dirty="0" err="1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Розроблених</a:t>
            </a:r>
            <a:r>
              <a:rPr lang="ru-RU" sz="3150" b="1" i="0" u="none" strike="noStrike" cap="none" dirty="0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ru-RU" sz="3150" b="1" i="0" u="none" strike="noStrike" cap="none" dirty="0" err="1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Підсистем</a:t>
            </a:r>
            <a:endParaRPr lang="ru-RU" dirty="0"/>
          </a:p>
        </p:txBody>
      </p:sp>
      <p:sp>
        <p:nvSpPr>
          <p:cNvPr id="151" name="Google Shape;151;p17"/>
          <p:cNvSpPr/>
          <p:nvPr/>
        </p:nvSpPr>
        <p:spPr>
          <a:xfrm>
            <a:off x="485775" y="485775"/>
            <a:ext cx="57150" cy="533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A3C7E0D-9296-4D5E-9C67-8C0EC444960F}"/>
              </a:ext>
            </a:extLst>
          </p:cNvPr>
          <p:cNvPicPr/>
          <p:nvPr/>
        </p:nvPicPr>
        <p:blipFill rotWithShape="1">
          <a:blip r:embed="rId6"/>
          <a:srcRect l="10833" t="30071" r="16259" b="8906"/>
          <a:stretch/>
        </p:blipFill>
        <p:spPr bwMode="auto">
          <a:xfrm>
            <a:off x="380891" y="1700392"/>
            <a:ext cx="7436205" cy="4237421"/>
          </a:xfrm>
          <a:prstGeom prst="rect">
            <a:avLst/>
          </a:prstGeom>
          <a:ln w="9525" cap="flat" cmpd="sng" algn="ctr">
            <a:solidFill>
              <a:srgbClr val="4F81BD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Google Shape;163;p18">
            <a:extLst>
              <a:ext uri="{FF2B5EF4-FFF2-40B4-BE49-F238E27FC236}">
                <a16:creationId xmlns:a16="http://schemas.microsoft.com/office/drawing/2014/main" id="{04A51F62-6515-4BDA-A23A-B2CA0BDB001F}"/>
              </a:ext>
            </a:extLst>
          </p:cNvPr>
          <p:cNvSpPr txBox="1"/>
          <p:nvPr/>
        </p:nvSpPr>
        <p:spPr>
          <a:xfrm>
            <a:off x="8093007" y="1412111"/>
            <a:ext cx="3712701" cy="4801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600" b="0" i="0" u="none" strike="noStrike" cap="none" dirty="0">
              <a:solidFill>
                <a:schemeClr val="bg1">
                  <a:lumMod val="85000"/>
                </a:schemeClr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—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керування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нелінійними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розмовами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та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умовами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доступу до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реплік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.</a:t>
            </a: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600" b="0" i="0" u="none" strike="noStrike" cap="none" dirty="0">
              <a:solidFill>
                <a:schemeClr val="bg1">
                  <a:lumMod val="95000"/>
                </a:schemeClr>
              </a:solidFill>
              <a:latin typeface="Bahnschrift Light" panose="020B0502040204020203" pitchFamily="34" charset="0"/>
              <a:ea typeface="Urbanist"/>
              <a:cs typeface="Urbanist"/>
              <a:sym typeface="Urbanist"/>
            </a:endParaRP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—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обробка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атомарних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цілей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та контроль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прогресу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розслідування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.</a:t>
            </a: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600" b="0" i="0" u="none" strike="noStrike" cap="none" dirty="0">
              <a:solidFill>
                <a:schemeClr val="bg1">
                  <a:lumMod val="95000"/>
                </a:schemeClr>
              </a:solidFill>
              <a:latin typeface="Bahnschrift Light" panose="020B0502040204020203" pitchFamily="34" charset="0"/>
              <a:ea typeface="Urbanist"/>
              <a:cs typeface="Urbanist"/>
              <a:sym typeface="Urbanist"/>
            </a:endParaRP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—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аналіз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поведінки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гравця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та адаптивна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генерація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підказок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.</a:t>
            </a: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600" b="0" i="0" u="none" strike="noStrike" cap="none" dirty="0">
              <a:solidFill>
                <a:schemeClr val="bg1">
                  <a:lumMod val="95000"/>
                </a:schemeClr>
              </a:solidFill>
              <a:latin typeface="Bahnschrift Light" panose="020B0502040204020203" pitchFamily="34" charset="0"/>
              <a:ea typeface="Urbanist"/>
              <a:cs typeface="Urbanist"/>
              <a:sym typeface="Urbanist"/>
            </a:endParaRP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—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відображення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поточних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цілей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та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доказів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у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зручному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 </a:t>
            </a:r>
            <a:r>
              <a:rPr lang="ru-RU" sz="1600" b="0" i="0" u="none" strike="noStrike" cap="none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вигляді</a:t>
            </a:r>
            <a:r>
              <a:rPr lang="ru-RU" sz="16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  <a:ea typeface="Urbanist"/>
                <a:cs typeface="Urbanist"/>
                <a:sym typeface="Urbanist"/>
              </a:rPr>
              <a:t>.</a:t>
            </a: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Google Shape;101;p14">
            <a:extLst>
              <a:ext uri="{FF2B5EF4-FFF2-40B4-BE49-F238E27FC236}">
                <a16:creationId xmlns:a16="http://schemas.microsoft.com/office/drawing/2014/main" id="{9E2C0942-55A7-486E-9CA3-8129E3317DAF}"/>
              </a:ext>
            </a:extLst>
          </p:cNvPr>
          <p:cNvSpPr txBox="1"/>
          <p:nvPr/>
        </p:nvSpPr>
        <p:spPr>
          <a:xfrm>
            <a:off x="11449401" y="6145027"/>
            <a:ext cx="53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8FAFC"/>
                </a:solidFill>
                <a:latin typeface="Playfair Display"/>
                <a:sym typeface="Playfair Display"/>
              </a:rPr>
              <a:t>6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140254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2">
            <a:extLst>
              <a:ext uri="{FF2B5EF4-FFF2-40B4-BE49-F238E27FC236}">
                <a16:creationId xmlns:a16="http://schemas.microsoft.com/office/drawing/2014/main" id="{6F30CB6A-CB5E-40AA-8F1A-89A9DA0038A7}"/>
              </a:ext>
            </a:extLst>
          </p:cNvPr>
          <p:cNvSpPr/>
          <p:nvPr/>
        </p:nvSpPr>
        <p:spPr>
          <a:xfrm>
            <a:off x="0" y="50406"/>
            <a:ext cx="12192000" cy="6733852"/>
          </a:xfrm>
          <a:custGeom>
            <a:avLst/>
            <a:gdLst/>
            <a:ahLst/>
            <a:cxnLst/>
            <a:rect l="l" t="t" r="r" b="b"/>
            <a:pathLst>
              <a:path w="18786571" h="9979060">
                <a:moveTo>
                  <a:pt x="0" y="0"/>
                </a:moveTo>
                <a:lnTo>
                  <a:pt x="18786572" y="0"/>
                </a:lnTo>
                <a:lnTo>
                  <a:pt x="18786572" y="9979060"/>
                </a:lnTo>
                <a:lnTo>
                  <a:pt x="0" y="9979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88" r="-2788"/>
            </a:stretch>
          </a:blipFill>
        </p:spPr>
        <p:txBody>
          <a:bodyPr/>
          <a:lstStyle/>
          <a:p>
            <a:r>
              <a:rPr lang="ru-RU" dirty="0"/>
              <a:t>с</a:t>
            </a:r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317A0259-F995-4BD8-8864-006791FC2CDC}"/>
              </a:ext>
            </a:extLst>
          </p:cNvPr>
          <p:cNvSpPr/>
          <p:nvPr/>
        </p:nvSpPr>
        <p:spPr>
          <a:xfrm>
            <a:off x="114300" y="275303"/>
            <a:ext cx="11807190" cy="6308377"/>
          </a:xfrm>
          <a:custGeom>
            <a:avLst/>
            <a:gdLst/>
            <a:ahLst/>
            <a:cxnLst/>
            <a:rect l="l" t="t" r="r" b="b"/>
            <a:pathLst>
              <a:path w="18288000" h="8594388">
                <a:moveTo>
                  <a:pt x="0" y="0"/>
                </a:moveTo>
                <a:lnTo>
                  <a:pt x="18288000" y="0"/>
                </a:lnTo>
                <a:lnTo>
                  <a:pt x="18288000" y="8594388"/>
                </a:lnTo>
                <a:lnTo>
                  <a:pt x="0" y="859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4700" r="-4700"/>
            </a:stretch>
          </a:blipFill>
        </p:spPr>
        <p:txBody>
          <a:bodyPr/>
          <a:lstStyle/>
          <a:p>
            <a:r>
              <a:rPr lang="ru-RU" dirty="0"/>
              <a:t>с</a:t>
            </a:r>
          </a:p>
        </p:txBody>
      </p:sp>
      <p:sp>
        <p:nvSpPr>
          <p:cNvPr id="158" name="Google Shape;158;p18"/>
          <p:cNvSpPr txBox="1"/>
          <p:nvPr/>
        </p:nvSpPr>
        <p:spPr>
          <a:xfrm>
            <a:off x="514350" y="2515821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accent6">
                    <a:lumMod val="40000"/>
                    <a:lumOff val="60000"/>
                  </a:schemeClr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Data-Driven </a:t>
            </a:r>
            <a:r>
              <a:rPr lang="en-US" sz="1800" b="0" i="0" u="none" strike="noStrike" cap="none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Підхід</a:t>
            </a:r>
            <a:endParaRPr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811766" y="3022464"/>
            <a:ext cx="50387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Атомарні</a:t>
            </a:r>
            <a:r>
              <a:rPr lang="en-US" sz="18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вузли</a:t>
            </a:r>
            <a:r>
              <a:rPr lang="en-US" sz="18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Структура</a:t>
            </a:r>
            <a:r>
              <a:rPr lang="en-US" sz="18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реплік</a:t>
            </a:r>
            <a:r>
              <a:rPr lang="en-US" sz="18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у Data Tables.</a:t>
            </a:r>
            <a:endParaRPr sz="1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811767" y="3696080"/>
            <a:ext cx="50387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Тригери</a:t>
            </a:r>
            <a:r>
              <a:rPr lang="en-US" sz="18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Події</a:t>
            </a:r>
            <a:r>
              <a:rPr lang="en-US" sz="18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(Event Dispatchers) </a:t>
            </a:r>
            <a:r>
              <a:rPr lang="en-US" sz="18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для</a:t>
            </a:r>
            <a:r>
              <a:rPr lang="en-US" sz="18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запуску</a:t>
            </a:r>
            <a:r>
              <a:rPr lang="en-US" sz="18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квестів</a:t>
            </a:r>
            <a:r>
              <a:rPr lang="en-US" sz="18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прямо</a:t>
            </a:r>
            <a:r>
              <a:rPr lang="en-US" sz="18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з </a:t>
            </a:r>
            <a:r>
              <a:rPr lang="en-US" sz="18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діалогу</a:t>
            </a:r>
            <a:r>
              <a:rPr lang="en-US" sz="18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676275" y="485775"/>
            <a:ext cx="6410801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Реалізація Діалогової Системи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485775" y="485775"/>
            <a:ext cx="57150" cy="533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6B96BD-9080-4453-B8E0-3B884D822D8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739" t="25070" r="14891" b="-1903"/>
          <a:stretch/>
        </p:blipFill>
        <p:spPr>
          <a:xfrm>
            <a:off x="6017894" y="1905226"/>
            <a:ext cx="5659755" cy="3278475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11" name="Google Shape;101;p14">
            <a:extLst>
              <a:ext uri="{FF2B5EF4-FFF2-40B4-BE49-F238E27FC236}">
                <a16:creationId xmlns:a16="http://schemas.microsoft.com/office/drawing/2014/main" id="{26EE3DB7-8E8D-42B1-B7AE-824092F675B3}"/>
              </a:ext>
            </a:extLst>
          </p:cNvPr>
          <p:cNvSpPr txBox="1"/>
          <p:nvPr/>
        </p:nvSpPr>
        <p:spPr>
          <a:xfrm>
            <a:off x="11449401" y="6145027"/>
            <a:ext cx="53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8FAFC"/>
                </a:solidFill>
                <a:latin typeface="Playfair Display"/>
                <a:sym typeface="Playfair Display"/>
              </a:rPr>
              <a:t>7</a:t>
            </a:r>
            <a:endParaRPr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3C8890C2-CE3D-4DED-8A14-BB1C0E49874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982357" h="10287000">
                <a:moveTo>
                  <a:pt x="0" y="0"/>
                </a:moveTo>
                <a:lnTo>
                  <a:pt x="18982357" y="0"/>
                </a:lnTo>
                <a:lnTo>
                  <a:pt x="1898235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57" r="-4057"/>
            </a:stretch>
          </a:blipFill>
        </p:spPr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49D64268-618A-4C93-AC9F-01DE9735AB4A}"/>
              </a:ext>
            </a:extLst>
          </p:cNvPr>
          <p:cNvSpPr/>
          <p:nvPr/>
        </p:nvSpPr>
        <p:spPr>
          <a:xfrm>
            <a:off x="192256" y="343636"/>
            <a:ext cx="11807190" cy="6308377"/>
          </a:xfrm>
          <a:custGeom>
            <a:avLst/>
            <a:gdLst/>
            <a:ahLst/>
            <a:cxnLst/>
            <a:rect l="l" t="t" r="r" b="b"/>
            <a:pathLst>
              <a:path w="18288000" h="8594388">
                <a:moveTo>
                  <a:pt x="0" y="0"/>
                </a:moveTo>
                <a:lnTo>
                  <a:pt x="18288000" y="0"/>
                </a:lnTo>
                <a:lnTo>
                  <a:pt x="18288000" y="8594388"/>
                </a:lnTo>
                <a:lnTo>
                  <a:pt x="0" y="859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4700" r="-4700"/>
            </a:stretch>
          </a:blipFill>
        </p:spPr>
        <p:txBody>
          <a:bodyPr/>
          <a:lstStyle/>
          <a:p>
            <a:r>
              <a:rPr lang="ru-RU" dirty="0"/>
              <a:t>с</a:t>
            </a:r>
          </a:p>
        </p:txBody>
      </p:sp>
      <p:sp>
        <p:nvSpPr>
          <p:cNvPr id="173" name="Google Shape;173;p19"/>
          <p:cNvSpPr txBox="1"/>
          <p:nvPr/>
        </p:nvSpPr>
        <p:spPr>
          <a:xfrm>
            <a:off x="581025" y="581025"/>
            <a:ext cx="5190648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In-Game: </a:t>
            </a:r>
            <a:r>
              <a:rPr lang="en-US" sz="3150" b="1" i="0" u="none" strike="noStrike" cap="none" dirty="0" err="1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Діалоги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C2EE0E-DD3F-4ED0-BB3E-52AE3A70FD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057" t="64810" r="52083" b="15781"/>
          <a:stretch/>
        </p:blipFill>
        <p:spPr>
          <a:xfrm>
            <a:off x="400778" y="4324533"/>
            <a:ext cx="5164661" cy="157241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619B20-84B3-4CD1-ADE6-7895ABDA6D6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962" t="65654" r="58410" b="16287"/>
          <a:stretch/>
        </p:blipFill>
        <p:spPr>
          <a:xfrm>
            <a:off x="6573923" y="1762065"/>
            <a:ext cx="4505161" cy="157241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0E7FB6-E2D2-49E9-A08C-897B5F0774D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2342" t="65058" r="38291" b="16013"/>
          <a:stretch/>
        </p:blipFill>
        <p:spPr>
          <a:xfrm>
            <a:off x="5631532" y="4421646"/>
            <a:ext cx="6389945" cy="137818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901D119-83EC-4A53-ACBD-84DF3268508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2341" t="65058" r="57056" b="16013"/>
          <a:stretch/>
        </p:blipFill>
        <p:spPr>
          <a:xfrm>
            <a:off x="640094" y="1690885"/>
            <a:ext cx="4757387" cy="1655240"/>
          </a:xfrm>
          <a:prstGeom prst="rect">
            <a:avLst/>
          </a:prstGeom>
        </p:spPr>
      </p:pic>
      <p:sp>
        <p:nvSpPr>
          <p:cNvPr id="14" name="Стрелка: вниз 13">
            <a:extLst>
              <a:ext uri="{FF2B5EF4-FFF2-40B4-BE49-F238E27FC236}">
                <a16:creationId xmlns:a16="http://schemas.microsoft.com/office/drawing/2014/main" id="{1AF8EED0-D6C9-440F-AA79-32C45F05CF8E}"/>
              </a:ext>
            </a:extLst>
          </p:cNvPr>
          <p:cNvSpPr/>
          <p:nvPr/>
        </p:nvSpPr>
        <p:spPr>
          <a:xfrm>
            <a:off x="2934033" y="3302728"/>
            <a:ext cx="484632" cy="978408"/>
          </a:xfrm>
          <a:prstGeom prst="down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1" name="Стрелка: вниз 20">
            <a:extLst>
              <a:ext uri="{FF2B5EF4-FFF2-40B4-BE49-F238E27FC236}">
                <a16:creationId xmlns:a16="http://schemas.microsoft.com/office/drawing/2014/main" id="{168C9140-2F7F-458A-98FC-8542535A0EB3}"/>
              </a:ext>
            </a:extLst>
          </p:cNvPr>
          <p:cNvSpPr/>
          <p:nvPr/>
        </p:nvSpPr>
        <p:spPr>
          <a:xfrm>
            <a:off x="8688580" y="3346125"/>
            <a:ext cx="484632" cy="978408"/>
          </a:xfrm>
          <a:prstGeom prst="down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Google Shape;101;p14">
            <a:extLst>
              <a:ext uri="{FF2B5EF4-FFF2-40B4-BE49-F238E27FC236}">
                <a16:creationId xmlns:a16="http://schemas.microsoft.com/office/drawing/2014/main" id="{D19BCAE6-6570-4AE8-8F41-7948DA7206B9}"/>
              </a:ext>
            </a:extLst>
          </p:cNvPr>
          <p:cNvSpPr txBox="1"/>
          <p:nvPr/>
        </p:nvSpPr>
        <p:spPr>
          <a:xfrm>
            <a:off x="11449401" y="6145027"/>
            <a:ext cx="53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8FAFC"/>
                </a:solidFill>
                <a:latin typeface="Playfair Display"/>
                <a:sym typeface="Playfair Display"/>
              </a:rPr>
              <a:t>8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2">
            <a:extLst>
              <a:ext uri="{FF2B5EF4-FFF2-40B4-BE49-F238E27FC236}">
                <a16:creationId xmlns:a16="http://schemas.microsoft.com/office/drawing/2014/main" id="{710ED468-91DC-4921-A939-30E82D358679}"/>
              </a:ext>
            </a:extLst>
          </p:cNvPr>
          <p:cNvSpPr/>
          <p:nvPr/>
        </p:nvSpPr>
        <p:spPr>
          <a:xfrm>
            <a:off x="0" y="0"/>
            <a:ext cx="12192000" cy="6895624"/>
          </a:xfrm>
          <a:custGeom>
            <a:avLst/>
            <a:gdLst/>
            <a:ahLst/>
            <a:cxnLst/>
            <a:rect l="l" t="t" r="r" b="b"/>
            <a:pathLst>
              <a:path w="18855697" h="10287000">
                <a:moveTo>
                  <a:pt x="0" y="0"/>
                </a:moveTo>
                <a:lnTo>
                  <a:pt x="18855697" y="0"/>
                </a:lnTo>
                <a:lnTo>
                  <a:pt x="1885569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69" r="-5669"/>
            </a:stretch>
          </a:blipFill>
        </p:spPr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4BE0FA63-B777-4074-81D2-B4E0DC4DBBEA}"/>
              </a:ext>
            </a:extLst>
          </p:cNvPr>
          <p:cNvSpPr/>
          <p:nvPr/>
        </p:nvSpPr>
        <p:spPr>
          <a:xfrm>
            <a:off x="192405" y="293623"/>
            <a:ext cx="11807190" cy="6308377"/>
          </a:xfrm>
          <a:custGeom>
            <a:avLst/>
            <a:gdLst/>
            <a:ahLst/>
            <a:cxnLst/>
            <a:rect l="l" t="t" r="r" b="b"/>
            <a:pathLst>
              <a:path w="18288000" h="8594388">
                <a:moveTo>
                  <a:pt x="0" y="0"/>
                </a:moveTo>
                <a:lnTo>
                  <a:pt x="18288000" y="0"/>
                </a:lnTo>
                <a:lnTo>
                  <a:pt x="18288000" y="8594388"/>
                </a:lnTo>
                <a:lnTo>
                  <a:pt x="0" y="859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4700" r="-4700"/>
            </a:stretch>
          </a:blipFill>
        </p:spPr>
        <p:txBody>
          <a:bodyPr/>
          <a:lstStyle/>
          <a:p>
            <a:r>
              <a:rPr lang="ru-RU" dirty="0"/>
              <a:t>с</a:t>
            </a:r>
          </a:p>
        </p:txBody>
      </p:sp>
      <p:sp>
        <p:nvSpPr>
          <p:cNvPr id="221" name="Google Shape;221;p22"/>
          <p:cNvSpPr txBox="1"/>
          <p:nvPr/>
        </p:nvSpPr>
        <p:spPr>
          <a:xfrm>
            <a:off x="676275" y="485775"/>
            <a:ext cx="686085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150" b="1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Реалізація</a:t>
            </a:r>
            <a:r>
              <a:rPr lang="ru-RU" sz="3150" b="1" i="0" u="none" strike="noStrike" cap="none" dirty="0">
                <a:solidFill>
                  <a:schemeClr val="bg1">
                    <a:lumMod val="85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на </a:t>
            </a:r>
            <a:r>
              <a:rPr lang="en-US" sz="3150" b="1" i="0" u="none" strike="noStrike" cap="none" dirty="0">
                <a:solidFill>
                  <a:schemeClr val="bg1">
                    <a:lumMod val="85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Blueprint</a:t>
            </a:r>
            <a:endParaRPr lang="ru-RU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485775" y="485775"/>
            <a:ext cx="57150" cy="533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>
                  <a:lumMod val="8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1863C7-4C80-4B86-9287-18B1D2E3268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65" t="19143" r="8671" b="16267"/>
          <a:stretch/>
        </p:blipFill>
        <p:spPr>
          <a:xfrm>
            <a:off x="40511" y="1383969"/>
            <a:ext cx="12110977" cy="4853236"/>
          </a:xfrm>
          <a:prstGeom prst="rect">
            <a:avLst/>
          </a:prstGeom>
        </p:spPr>
      </p:pic>
      <p:sp>
        <p:nvSpPr>
          <p:cNvPr id="8" name="Google Shape;101;p14">
            <a:extLst>
              <a:ext uri="{FF2B5EF4-FFF2-40B4-BE49-F238E27FC236}">
                <a16:creationId xmlns:a16="http://schemas.microsoft.com/office/drawing/2014/main" id="{01EF5EA6-DF22-46DA-9623-90F01A171310}"/>
              </a:ext>
            </a:extLst>
          </p:cNvPr>
          <p:cNvSpPr txBox="1"/>
          <p:nvPr/>
        </p:nvSpPr>
        <p:spPr>
          <a:xfrm>
            <a:off x="11660895" y="6342259"/>
            <a:ext cx="53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8FAFC"/>
                </a:solidFill>
                <a:latin typeface="Playfair Display"/>
                <a:sym typeface="Playfair Display"/>
              </a:rPr>
              <a:t>9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026021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2">
            <a:extLst>
              <a:ext uri="{FF2B5EF4-FFF2-40B4-BE49-F238E27FC236}">
                <a16:creationId xmlns:a16="http://schemas.microsoft.com/office/drawing/2014/main" id="{6619AEAF-2A77-4129-979A-83898AF9062E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982357" h="10287000">
                <a:moveTo>
                  <a:pt x="0" y="0"/>
                </a:moveTo>
                <a:lnTo>
                  <a:pt x="18982357" y="0"/>
                </a:lnTo>
                <a:lnTo>
                  <a:pt x="1898235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57" r="-4057"/>
            </a:stretch>
          </a:blipFill>
        </p:spPr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5F75EF46-7AB3-4B4A-A8D0-C0C0E7875DF0}"/>
              </a:ext>
            </a:extLst>
          </p:cNvPr>
          <p:cNvSpPr/>
          <p:nvPr/>
        </p:nvSpPr>
        <p:spPr>
          <a:xfrm>
            <a:off x="192256" y="343636"/>
            <a:ext cx="11807190" cy="6308377"/>
          </a:xfrm>
          <a:custGeom>
            <a:avLst/>
            <a:gdLst/>
            <a:ahLst/>
            <a:cxnLst/>
            <a:rect l="l" t="t" r="r" b="b"/>
            <a:pathLst>
              <a:path w="18288000" h="8594388">
                <a:moveTo>
                  <a:pt x="0" y="0"/>
                </a:moveTo>
                <a:lnTo>
                  <a:pt x="18288000" y="0"/>
                </a:lnTo>
                <a:lnTo>
                  <a:pt x="18288000" y="8594388"/>
                </a:lnTo>
                <a:lnTo>
                  <a:pt x="0" y="859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4700" r="-4700"/>
            </a:stretch>
          </a:blipFill>
        </p:spPr>
        <p:txBody>
          <a:bodyPr/>
          <a:lstStyle/>
          <a:p>
            <a:r>
              <a:rPr lang="ru-RU" dirty="0"/>
              <a:t>с</a:t>
            </a:r>
          </a:p>
        </p:txBody>
      </p:sp>
      <p:pic>
        <p:nvPicPr>
          <p:cNvPr id="183" name="Google Shape;18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2509837"/>
            <a:ext cx="361310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9375" y="2509837"/>
            <a:ext cx="361310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2975" y="2509837"/>
            <a:ext cx="361310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655479" y="3443287"/>
            <a:ext cx="32736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Атомарні цілі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733425" y="3910012"/>
            <a:ext cx="3117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Кожен квест поділений на Objective IDs для чіткого трекінгу.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4459080" y="3443287"/>
            <a:ext cx="32736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Типи завдань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537025" y="3910012"/>
            <a:ext cx="3117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Location, Interact, Collect, Kill - універсальна архітектура.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262680" y="3443287"/>
            <a:ext cx="32736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Event-Driven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8340625" y="3910012"/>
            <a:ext cx="3117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Квести оновлюються через глобальні інтерфейси без зайвих залежностей.</a:t>
            </a:r>
            <a:endParaRPr/>
          </a:p>
        </p:txBody>
      </p:sp>
      <p:pic>
        <p:nvPicPr>
          <p:cNvPr id="192" name="Google Shape;19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01750" y="27860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52976" y="278606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61326" y="27860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676275" y="485775"/>
            <a:ext cx="548068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Логіка Квестової Системи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485775" y="485775"/>
            <a:ext cx="57150" cy="533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01;p14">
            <a:extLst>
              <a:ext uri="{FF2B5EF4-FFF2-40B4-BE49-F238E27FC236}">
                <a16:creationId xmlns:a16="http://schemas.microsoft.com/office/drawing/2014/main" id="{1A35F840-2E33-4FA2-95A7-2F55A73AE34C}"/>
              </a:ext>
            </a:extLst>
          </p:cNvPr>
          <p:cNvSpPr txBox="1"/>
          <p:nvPr/>
        </p:nvSpPr>
        <p:spPr>
          <a:xfrm>
            <a:off x="11449401" y="6145027"/>
            <a:ext cx="53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8FAFC"/>
                </a:solidFill>
                <a:latin typeface="Playfair Display"/>
                <a:sym typeface="Playfair Display"/>
              </a:rPr>
              <a:t>10</a:t>
            </a:r>
            <a:endParaRPr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2">
            <a:extLst>
              <a:ext uri="{FF2B5EF4-FFF2-40B4-BE49-F238E27FC236}">
                <a16:creationId xmlns:a16="http://schemas.microsoft.com/office/drawing/2014/main" id="{6619AEAF-2A77-4129-979A-83898AF906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982357" h="10287000">
                <a:moveTo>
                  <a:pt x="0" y="0"/>
                </a:moveTo>
                <a:lnTo>
                  <a:pt x="18982357" y="0"/>
                </a:lnTo>
                <a:lnTo>
                  <a:pt x="1898235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57" r="-4057"/>
            </a:stretch>
          </a:blipFill>
        </p:spPr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5F75EF46-7AB3-4B4A-A8D0-C0C0E7875DF0}"/>
              </a:ext>
            </a:extLst>
          </p:cNvPr>
          <p:cNvSpPr/>
          <p:nvPr/>
        </p:nvSpPr>
        <p:spPr>
          <a:xfrm>
            <a:off x="49381" y="549623"/>
            <a:ext cx="11807190" cy="6308377"/>
          </a:xfrm>
          <a:custGeom>
            <a:avLst/>
            <a:gdLst/>
            <a:ahLst/>
            <a:cxnLst/>
            <a:rect l="l" t="t" r="r" b="b"/>
            <a:pathLst>
              <a:path w="18288000" h="8594388">
                <a:moveTo>
                  <a:pt x="0" y="0"/>
                </a:moveTo>
                <a:lnTo>
                  <a:pt x="18288000" y="0"/>
                </a:lnTo>
                <a:lnTo>
                  <a:pt x="18288000" y="8594388"/>
                </a:lnTo>
                <a:lnTo>
                  <a:pt x="0" y="859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4700" r="-4700"/>
            </a:stretch>
          </a:blipFill>
        </p:spPr>
        <p:txBody>
          <a:bodyPr/>
          <a:lstStyle/>
          <a:p>
            <a:r>
              <a:rPr lang="ru-RU" dirty="0"/>
              <a:t>с</a:t>
            </a:r>
          </a:p>
        </p:txBody>
      </p:sp>
      <p:sp>
        <p:nvSpPr>
          <p:cNvPr id="195" name="Google Shape;195;p20"/>
          <p:cNvSpPr txBox="1"/>
          <p:nvPr/>
        </p:nvSpPr>
        <p:spPr>
          <a:xfrm>
            <a:off x="676275" y="485775"/>
            <a:ext cx="705649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150" b="1" i="0" u="none" strike="noStrike" cap="none" dirty="0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Типи </a:t>
            </a:r>
            <a:r>
              <a:rPr lang="ru-RU" sz="3150" b="1" i="0" u="none" strike="noStrike" cap="none" dirty="0" err="1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Квестових</a:t>
            </a:r>
            <a:r>
              <a:rPr lang="ru-RU" sz="3150" b="1" i="0" u="none" strike="noStrike" cap="none" dirty="0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ru-RU" sz="3150" b="1" i="0" u="none" strike="noStrike" cap="none" dirty="0" err="1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Цілей</a:t>
            </a:r>
            <a:endParaRPr lang="ru-RU" dirty="0"/>
          </a:p>
        </p:txBody>
      </p:sp>
      <p:sp>
        <p:nvSpPr>
          <p:cNvPr id="196" name="Google Shape;196;p20"/>
          <p:cNvSpPr/>
          <p:nvPr/>
        </p:nvSpPr>
        <p:spPr>
          <a:xfrm>
            <a:off x="485775" y="485775"/>
            <a:ext cx="57150" cy="533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1ECEBB-21DD-489B-B076-B7EA8FCF0098}"/>
              </a:ext>
            </a:extLst>
          </p:cNvPr>
          <p:cNvSpPr txBox="1"/>
          <p:nvPr/>
        </p:nvSpPr>
        <p:spPr>
          <a:xfrm>
            <a:off x="485775" y="2134150"/>
            <a:ext cx="56102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Location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: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Досягнення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визначеної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локації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або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області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на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рівні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.</a:t>
            </a:r>
          </a:p>
          <a:p>
            <a:endParaRPr lang="ru-RU" sz="1800" dirty="0">
              <a:solidFill>
                <a:schemeClr val="bg1">
                  <a:lumMod val="95000"/>
                </a:schemeClr>
              </a:solidFill>
              <a:latin typeface="Bahnschrift Light" panose="020B0502040204020203" pitchFamily="34" charset="0"/>
            </a:endParaRPr>
          </a:p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Interact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: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Взаємодія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з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об'єктом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,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NPC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або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елементом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оточення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.</a:t>
            </a:r>
          </a:p>
          <a:p>
            <a:endParaRPr lang="ru-RU" sz="1800" dirty="0">
              <a:solidFill>
                <a:schemeClr val="bg1">
                  <a:lumMod val="95000"/>
                </a:schemeClr>
              </a:solidFill>
              <a:latin typeface="Bahnschrift Light" panose="020B0502040204020203" pitchFamily="34" charset="0"/>
            </a:endParaRPr>
          </a:p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Collect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: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Збір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визначеної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кількості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предметів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або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доказів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.</a:t>
            </a:r>
          </a:p>
          <a:p>
            <a:endParaRPr lang="ru-RU" sz="1800" dirty="0">
              <a:solidFill>
                <a:schemeClr val="bg1">
                  <a:lumMod val="95000"/>
                </a:schemeClr>
              </a:solidFill>
              <a:latin typeface="Bahnschrift Light" panose="020B0502040204020203" pitchFamily="34" charset="0"/>
            </a:endParaRPr>
          </a:p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Kill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: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Усунення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цільового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противника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або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групи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противників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Bahnschrift Light" panose="020B0502040204020203" pitchFamily="34" charset="0"/>
              </a:rPr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35817B2-F7C6-4D26-A687-88B21F0302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120" t="4698" r="13735"/>
          <a:stretch/>
        </p:blipFill>
        <p:spPr>
          <a:xfrm>
            <a:off x="6293925" y="1586926"/>
            <a:ext cx="5364721" cy="3993503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8" name="Google Shape;101;p14">
            <a:extLst>
              <a:ext uri="{FF2B5EF4-FFF2-40B4-BE49-F238E27FC236}">
                <a16:creationId xmlns:a16="http://schemas.microsoft.com/office/drawing/2014/main" id="{FF7DAD94-417A-40A4-8DE4-31EB7EE21060}"/>
              </a:ext>
            </a:extLst>
          </p:cNvPr>
          <p:cNvSpPr txBox="1"/>
          <p:nvPr/>
        </p:nvSpPr>
        <p:spPr>
          <a:xfrm>
            <a:off x="11449401" y="6145027"/>
            <a:ext cx="53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8FAFC"/>
                </a:solidFill>
                <a:latin typeface="Playfair Display"/>
                <a:sym typeface="Playfair Display"/>
              </a:rPr>
              <a:t>11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40425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2">
            <a:extLst>
              <a:ext uri="{FF2B5EF4-FFF2-40B4-BE49-F238E27FC236}">
                <a16:creationId xmlns:a16="http://schemas.microsoft.com/office/drawing/2014/main" id="{710ED468-91DC-4921-A939-30E82D358679}"/>
              </a:ext>
            </a:extLst>
          </p:cNvPr>
          <p:cNvSpPr/>
          <p:nvPr/>
        </p:nvSpPr>
        <p:spPr>
          <a:xfrm>
            <a:off x="0" y="0"/>
            <a:ext cx="12192000" cy="6895624"/>
          </a:xfrm>
          <a:custGeom>
            <a:avLst/>
            <a:gdLst/>
            <a:ahLst/>
            <a:cxnLst/>
            <a:rect l="l" t="t" r="r" b="b"/>
            <a:pathLst>
              <a:path w="18855697" h="10287000">
                <a:moveTo>
                  <a:pt x="0" y="0"/>
                </a:moveTo>
                <a:lnTo>
                  <a:pt x="18855697" y="0"/>
                </a:lnTo>
                <a:lnTo>
                  <a:pt x="1885569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69" r="-5669"/>
            </a:stretch>
          </a:blipFill>
        </p:spPr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4BE0FA63-B777-4074-81D2-B4E0DC4DBBEA}"/>
              </a:ext>
            </a:extLst>
          </p:cNvPr>
          <p:cNvSpPr/>
          <p:nvPr/>
        </p:nvSpPr>
        <p:spPr>
          <a:xfrm>
            <a:off x="192405" y="293623"/>
            <a:ext cx="11807190" cy="6308377"/>
          </a:xfrm>
          <a:custGeom>
            <a:avLst/>
            <a:gdLst/>
            <a:ahLst/>
            <a:cxnLst/>
            <a:rect l="l" t="t" r="r" b="b"/>
            <a:pathLst>
              <a:path w="18288000" h="8594388">
                <a:moveTo>
                  <a:pt x="0" y="0"/>
                </a:moveTo>
                <a:lnTo>
                  <a:pt x="18288000" y="0"/>
                </a:lnTo>
                <a:lnTo>
                  <a:pt x="18288000" y="8594388"/>
                </a:lnTo>
                <a:lnTo>
                  <a:pt x="0" y="859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4700" r="-4700"/>
            </a:stretch>
          </a:blipFill>
        </p:spPr>
        <p:txBody>
          <a:bodyPr/>
          <a:lstStyle/>
          <a:p>
            <a:r>
              <a:rPr lang="ru-RU" dirty="0"/>
              <a:t>с</a:t>
            </a:r>
          </a:p>
        </p:txBody>
      </p:sp>
      <p:sp>
        <p:nvSpPr>
          <p:cNvPr id="221" name="Google Shape;221;p22"/>
          <p:cNvSpPr txBox="1"/>
          <p:nvPr/>
        </p:nvSpPr>
        <p:spPr>
          <a:xfrm>
            <a:off x="676275" y="485775"/>
            <a:ext cx="793588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chemeClr val="bg1">
                    <a:lumMod val="85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Blueprint: </a:t>
            </a:r>
            <a:r>
              <a:rPr lang="ru-RU" sz="3150" b="1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Оновлення</a:t>
            </a:r>
            <a:r>
              <a:rPr lang="ru-RU" sz="3150" b="1" i="0" u="none" strike="noStrike" cap="none" dirty="0">
                <a:solidFill>
                  <a:schemeClr val="bg1">
                    <a:lumMod val="85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ru-RU" sz="3150" b="1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Прогресу</a:t>
            </a:r>
            <a:r>
              <a:rPr lang="ru-RU" sz="3150" b="1" i="0" u="none" strike="noStrike" cap="none" dirty="0">
                <a:solidFill>
                  <a:schemeClr val="bg1">
                    <a:lumMod val="85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Квесту</a:t>
            </a:r>
            <a:endParaRPr lang="ru-RU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485775" y="485775"/>
            <a:ext cx="57150" cy="533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>
                  <a:lumMod val="8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419C46-5B5F-4827-B8FC-7367AFCB4C6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087" t="20409" r="9703" b="18775"/>
          <a:stretch/>
        </p:blipFill>
        <p:spPr>
          <a:xfrm>
            <a:off x="542925" y="1368807"/>
            <a:ext cx="11292668" cy="5003418"/>
          </a:xfrm>
          <a:prstGeom prst="rect">
            <a:avLst/>
          </a:prstGeom>
        </p:spPr>
      </p:pic>
      <p:sp>
        <p:nvSpPr>
          <p:cNvPr id="8" name="Google Shape;101;p14">
            <a:extLst>
              <a:ext uri="{FF2B5EF4-FFF2-40B4-BE49-F238E27FC236}">
                <a16:creationId xmlns:a16="http://schemas.microsoft.com/office/drawing/2014/main" id="{AFC71AAE-2AA2-446A-9344-CDF856054004}"/>
              </a:ext>
            </a:extLst>
          </p:cNvPr>
          <p:cNvSpPr txBox="1"/>
          <p:nvPr/>
        </p:nvSpPr>
        <p:spPr>
          <a:xfrm>
            <a:off x="11541687" y="6372225"/>
            <a:ext cx="53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8FAFC"/>
                </a:solidFill>
                <a:latin typeface="Playfair Display"/>
                <a:sym typeface="Playfair Display"/>
              </a:rPr>
              <a:t>12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9700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8C534A71-60A7-40B4-B740-A58532DE39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982357" h="10287000">
                <a:moveTo>
                  <a:pt x="0" y="0"/>
                </a:moveTo>
                <a:lnTo>
                  <a:pt x="18982357" y="0"/>
                </a:lnTo>
                <a:lnTo>
                  <a:pt x="1898235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57" r="-4057"/>
            </a:stretch>
          </a:blipFill>
        </p:spPr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9233BB00-2359-475C-A716-5C45FB4D30C4}"/>
              </a:ext>
            </a:extLst>
          </p:cNvPr>
          <p:cNvSpPr/>
          <p:nvPr/>
        </p:nvSpPr>
        <p:spPr>
          <a:xfrm>
            <a:off x="192256" y="343636"/>
            <a:ext cx="11807190" cy="6308377"/>
          </a:xfrm>
          <a:custGeom>
            <a:avLst/>
            <a:gdLst/>
            <a:ahLst/>
            <a:cxnLst/>
            <a:rect l="l" t="t" r="r" b="b"/>
            <a:pathLst>
              <a:path w="18288000" h="8594388">
                <a:moveTo>
                  <a:pt x="0" y="0"/>
                </a:moveTo>
                <a:lnTo>
                  <a:pt x="18288000" y="0"/>
                </a:lnTo>
                <a:lnTo>
                  <a:pt x="18288000" y="8594388"/>
                </a:lnTo>
                <a:lnTo>
                  <a:pt x="0" y="859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4700" r="-4700"/>
            </a:stretch>
          </a:blipFill>
        </p:spPr>
        <p:txBody>
          <a:bodyPr/>
          <a:lstStyle/>
          <a:p>
            <a:r>
              <a:rPr lang="ru-RU" dirty="0"/>
              <a:t>с</a:t>
            </a:r>
          </a:p>
        </p:txBody>
      </p:sp>
      <p:sp>
        <p:nvSpPr>
          <p:cNvPr id="203" name="Google Shape;203;p21"/>
          <p:cNvSpPr txBox="1"/>
          <p:nvPr/>
        </p:nvSpPr>
        <p:spPr>
          <a:xfrm>
            <a:off x="3290500" y="340297"/>
            <a:ext cx="5610701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Журнал</a:t>
            </a:r>
            <a:r>
              <a:rPr lang="en-US" sz="3750" b="1" i="0" u="none" strike="noStrike" cap="none" dirty="0">
                <a:solidFill>
                  <a:schemeClr val="bg1">
                    <a:lumMod val="85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3750" b="1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Розслідування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C289B2-52A9-487D-93A9-143FCE79A7D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987" t="21097" r="29652" b="12574"/>
          <a:stretch/>
        </p:blipFill>
        <p:spPr>
          <a:xfrm>
            <a:off x="995966" y="917378"/>
            <a:ext cx="10199767" cy="5734635"/>
          </a:xfrm>
          <a:prstGeom prst="rect">
            <a:avLst/>
          </a:prstGeom>
        </p:spPr>
      </p:pic>
      <p:sp>
        <p:nvSpPr>
          <p:cNvPr id="6" name="Google Shape;101;p14">
            <a:extLst>
              <a:ext uri="{FF2B5EF4-FFF2-40B4-BE49-F238E27FC236}">
                <a16:creationId xmlns:a16="http://schemas.microsoft.com/office/drawing/2014/main" id="{D9D9C967-6B8A-4612-8F9A-360642B63270}"/>
              </a:ext>
            </a:extLst>
          </p:cNvPr>
          <p:cNvSpPr txBox="1"/>
          <p:nvPr/>
        </p:nvSpPr>
        <p:spPr>
          <a:xfrm>
            <a:off x="11491620" y="6282681"/>
            <a:ext cx="53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8FAFC"/>
                </a:solidFill>
                <a:latin typeface="Playfair Display"/>
                <a:sym typeface="Playfair Display"/>
              </a:rPr>
              <a:t>13</a:t>
            </a:r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2">
            <a:extLst>
              <a:ext uri="{FF2B5EF4-FFF2-40B4-BE49-F238E27FC236}">
                <a16:creationId xmlns:a16="http://schemas.microsoft.com/office/drawing/2014/main" id="{710ED468-91DC-4921-A939-30E82D358679}"/>
              </a:ext>
            </a:extLst>
          </p:cNvPr>
          <p:cNvSpPr/>
          <p:nvPr/>
        </p:nvSpPr>
        <p:spPr>
          <a:xfrm>
            <a:off x="1" y="-37624"/>
            <a:ext cx="12192000" cy="6895624"/>
          </a:xfrm>
          <a:custGeom>
            <a:avLst/>
            <a:gdLst/>
            <a:ahLst/>
            <a:cxnLst/>
            <a:rect l="l" t="t" r="r" b="b"/>
            <a:pathLst>
              <a:path w="18855697" h="10287000">
                <a:moveTo>
                  <a:pt x="0" y="0"/>
                </a:moveTo>
                <a:lnTo>
                  <a:pt x="18855697" y="0"/>
                </a:lnTo>
                <a:lnTo>
                  <a:pt x="1885569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69" r="-5669"/>
            </a:stretch>
          </a:blipFill>
        </p:spPr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88D9C5D9-7135-40CF-881D-26B0FA65B53F}"/>
              </a:ext>
            </a:extLst>
          </p:cNvPr>
          <p:cNvSpPr/>
          <p:nvPr/>
        </p:nvSpPr>
        <p:spPr>
          <a:xfrm>
            <a:off x="243125" y="1371599"/>
            <a:ext cx="11705749" cy="5000625"/>
          </a:xfrm>
          <a:custGeom>
            <a:avLst/>
            <a:gdLst/>
            <a:ahLst/>
            <a:cxnLst/>
            <a:rect l="l" t="t" r="r" b="b"/>
            <a:pathLst>
              <a:path w="18288000" h="8594388">
                <a:moveTo>
                  <a:pt x="0" y="0"/>
                </a:moveTo>
                <a:lnTo>
                  <a:pt x="18288000" y="0"/>
                </a:lnTo>
                <a:lnTo>
                  <a:pt x="18288000" y="8594388"/>
                </a:lnTo>
                <a:lnTo>
                  <a:pt x="0" y="859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4700" r="-4700"/>
            </a:stretch>
          </a:blipFill>
        </p:spPr>
      </p:sp>
      <p:sp>
        <p:nvSpPr>
          <p:cNvPr id="211" name="Google Shape;211;p22"/>
          <p:cNvSpPr txBox="1"/>
          <p:nvPr/>
        </p:nvSpPr>
        <p:spPr>
          <a:xfrm>
            <a:off x="485775" y="3262312"/>
            <a:ext cx="5419725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CLI 90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485775" y="4367212"/>
            <a:ext cx="5419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КРИТИЧНИЙ ЗАСТІЙ</a:t>
            </a: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6286500" y="2833687"/>
            <a:ext cx="56907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Динамічна Реакція ПЗ</a:t>
            </a:r>
            <a:endParaRPr sz="20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6286500" y="4367212"/>
            <a:ext cx="541972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Результат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Гравець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залишається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у 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стані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"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Потоку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«</a:t>
            </a:r>
            <a:r>
              <a:rPr lang="ru-RU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не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порушуючи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ілюзію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самостійності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6629400" y="3262312"/>
            <a:ext cx="381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6667500" y="3262312"/>
            <a:ext cx="5038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Рівень 1:</a:t>
            </a:r>
            <a:r>
              <a:rPr lang="en-US" sz="2000" b="0" i="0" u="none" strike="noStrike" cap="none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Пасивні коментарі атмосфери.</a:t>
            </a:r>
            <a:endParaRPr sz="20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6629400" y="3567112"/>
            <a:ext cx="381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6667500" y="3567112"/>
            <a:ext cx="5038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Рівень</a:t>
            </a:r>
            <a:r>
              <a:rPr lang="en-US" sz="20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2: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Натяки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на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неочевидні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деталі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6629400" y="3871912"/>
            <a:ext cx="381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6667500" y="3871912"/>
            <a:ext cx="5038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Рівень</a:t>
            </a:r>
            <a:r>
              <a:rPr lang="en-US" sz="20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3: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Детермінована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вказівка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на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дію</a:t>
            </a:r>
            <a:r>
              <a:rPr lang="en-US" sz="2000" b="0" i="0" u="none" strike="noStrike" cap="none" dirty="0">
                <a:solidFill>
                  <a:schemeClr val="bg1">
                    <a:lumMod val="8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676275" y="485775"/>
            <a:ext cx="686085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chemeClr val="bg1">
                    <a:lumMod val="85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Механізм "Внутрішнього Голосу"</a:t>
            </a: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485775" y="485775"/>
            <a:ext cx="57150" cy="533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>
                  <a:lumMod val="8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01;p14">
            <a:extLst>
              <a:ext uri="{FF2B5EF4-FFF2-40B4-BE49-F238E27FC236}">
                <a16:creationId xmlns:a16="http://schemas.microsoft.com/office/drawing/2014/main" id="{E48A18DA-1FF6-4634-B300-C4DF9260817B}"/>
              </a:ext>
            </a:extLst>
          </p:cNvPr>
          <p:cNvSpPr txBox="1"/>
          <p:nvPr/>
        </p:nvSpPr>
        <p:spPr>
          <a:xfrm>
            <a:off x="11449401" y="6145027"/>
            <a:ext cx="53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8FAFC"/>
                </a:solidFill>
                <a:latin typeface="Playfair Display"/>
                <a:sym typeface="Playfair Display"/>
              </a:rPr>
              <a:t>14</a:t>
            </a:r>
            <a:endParaRPr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2">
            <a:extLst>
              <a:ext uri="{FF2B5EF4-FFF2-40B4-BE49-F238E27FC236}">
                <a16:creationId xmlns:a16="http://schemas.microsoft.com/office/drawing/2014/main" id="{AE0E18DB-EA30-4397-8306-8643F68B84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982357" h="10287000">
                <a:moveTo>
                  <a:pt x="0" y="0"/>
                </a:moveTo>
                <a:lnTo>
                  <a:pt x="18982357" y="0"/>
                </a:lnTo>
                <a:lnTo>
                  <a:pt x="1898235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57" r="-4057"/>
            </a:stretch>
          </a:blipFill>
        </p:spPr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291B1A84-7274-4A2F-AB8F-619753B9AE56}"/>
              </a:ext>
            </a:extLst>
          </p:cNvPr>
          <p:cNvSpPr/>
          <p:nvPr/>
        </p:nvSpPr>
        <p:spPr>
          <a:xfrm>
            <a:off x="192256" y="343636"/>
            <a:ext cx="11807190" cy="6308377"/>
          </a:xfrm>
          <a:custGeom>
            <a:avLst/>
            <a:gdLst/>
            <a:ahLst/>
            <a:cxnLst/>
            <a:rect l="l" t="t" r="r" b="b"/>
            <a:pathLst>
              <a:path w="18288000" h="8594388">
                <a:moveTo>
                  <a:pt x="0" y="0"/>
                </a:moveTo>
                <a:lnTo>
                  <a:pt x="18288000" y="0"/>
                </a:lnTo>
                <a:lnTo>
                  <a:pt x="18288000" y="8594388"/>
                </a:lnTo>
                <a:lnTo>
                  <a:pt x="0" y="859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4700" r="-4700"/>
            </a:stretch>
          </a:blipFill>
        </p:spPr>
        <p:txBody>
          <a:bodyPr/>
          <a:lstStyle/>
          <a:p>
            <a:r>
              <a:rPr lang="ru-RU" dirty="0"/>
              <a:t>с</a:t>
            </a:r>
          </a:p>
        </p:txBody>
      </p:sp>
      <p:pic>
        <p:nvPicPr>
          <p:cNvPr id="228" name="Google Shape;22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1704975"/>
            <a:ext cx="5419725" cy="4257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704975"/>
            <a:ext cx="5419725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5071" y="4104076"/>
            <a:ext cx="5419725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6534150" y="2181225"/>
            <a:ext cx="517064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YouTube (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DevLogs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)</a:t>
            </a:r>
            <a:endParaRPr dirty="0"/>
          </a:p>
        </p:txBody>
      </p:sp>
      <p:sp>
        <p:nvSpPr>
          <p:cNvPr id="233" name="Google Shape;233;p23"/>
          <p:cNvSpPr txBox="1"/>
          <p:nvPr/>
        </p:nvSpPr>
        <p:spPr>
          <a:xfrm>
            <a:off x="6534150" y="2647950"/>
            <a:ext cx="49244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Демонстрація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динаміки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атмосфера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робота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підсистем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та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механік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234" name="Google Shape;234;p23"/>
          <p:cNvSpPr txBox="1"/>
          <p:nvPr/>
        </p:nvSpPr>
        <p:spPr>
          <a:xfrm>
            <a:off x="6534150" y="4552950"/>
            <a:ext cx="517064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Twitter / X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534150" y="5019675"/>
            <a:ext cx="49244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Формування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спільноти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через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короткі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апдейти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та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скріншоти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pic>
        <p:nvPicPr>
          <p:cNvPr id="236" name="Google Shape;236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34150" y="220027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4572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676275" y="485775"/>
            <a:ext cx="6910863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150" b="1" i="0" u="none" strike="noStrike" cap="none" dirty="0" err="1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Інтеграція</a:t>
            </a:r>
            <a:r>
              <a:rPr lang="ru-RU" sz="3150" b="1" i="0" u="none" strike="noStrike" cap="none" dirty="0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та </a:t>
            </a:r>
            <a:r>
              <a:rPr lang="ru-RU" sz="3150" b="1" i="0" u="none" strike="noStrike" cap="none" dirty="0" err="1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Наукова</a:t>
            </a:r>
            <a:r>
              <a:rPr lang="ru-RU" sz="3150" b="1" i="0" u="none" strike="noStrike" cap="none" dirty="0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ru-RU" sz="3150" b="1" i="0" u="none" strike="noStrike" cap="none" dirty="0" err="1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Діяльність</a:t>
            </a:r>
            <a:endParaRPr lang="ru-RU" dirty="0"/>
          </a:p>
        </p:txBody>
      </p:sp>
      <p:sp>
        <p:nvSpPr>
          <p:cNvPr id="239" name="Google Shape;239;p23"/>
          <p:cNvSpPr/>
          <p:nvPr/>
        </p:nvSpPr>
        <p:spPr>
          <a:xfrm>
            <a:off x="485775" y="485775"/>
            <a:ext cx="57150" cy="533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B04EF2-E17E-4818-A4A0-99DF0DA955C9}"/>
              </a:ext>
            </a:extLst>
          </p:cNvPr>
          <p:cNvSpPr txBox="1"/>
          <p:nvPr/>
        </p:nvSpPr>
        <p:spPr>
          <a:xfrm>
            <a:off x="697851" y="2553740"/>
            <a:ext cx="4995571" cy="3203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1600" dirty="0">
              <a:solidFill>
                <a:schemeClr val="bg1">
                  <a:lumMod val="9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Прототип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гри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було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представлено на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виставці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ігрових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проєктів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у межах форуму. </a:t>
            </a:r>
          </a:p>
          <a:p>
            <a:pPr>
              <a:lnSpc>
                <a:spcPct val="150000"/>
              </a:lnSpc>
            </a:pPr>
            <a:endParaRPr lang="ru-RU" sz="1800" dirty="0">
              <a:solidFill>
                <a:schemeClr val="bg1">
                  <a:lumMod val="9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Отримані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відгуки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підтвердили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зрозумілість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квестової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структури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,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зручність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діалогової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взаємодії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та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ефективність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системи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підтримки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гравця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.</a:t>
            </a:r>
          </a:p>
        </p:txBody>
      </p:sp>
      <p:sp>
        <p:nvSpPr>
          <p:cNvPr id="21" name="Google Shape;232;p23">
            <a:extLst>
              <a:ext uri="{FF2B5EF4-FFF2-40B4-BE49-F238E27FC236}">
                <a16:creationId xmlns:a16="http://schemas.microsoft.com/office/drawing/2014/main" id="{48AACECD-3522-4B84-BB09-920D180E0569}"/>
              </a:ext>
            </a:extLst>
          </p:cNvPr>
          <p:cNvSpPr txBox="1"/>
          <p:nvPr/>
        </p:nvSpPr>
        <p:spPr>
          <a:xfrm>
            <a:off x="514350" y="1983301"/>
            <a:ext cx="517064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 err="1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Міжнародний</a:t>
            </a:r>
            <a:r>
              <a:rPr lang="ru-RU" sz="1800" b="0" i="0" u="none" strike="noStrike" cap="none" dirty="0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форум «</a:t>
            </a:r>
            <a:r>
              <a:rPr lang="ru-RU" sz="1800" b="0" i="0" u="none" strike="noStrike" cap="none" dirty="0" err="1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Радіоелектроніка</a:t>
            </a:r>
            <a:r>
              <a:rPr lang="ru-RU" sz="1800" b="0" i="0" u="none" strike="noStrike" cap="none" dirty="0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та молодь у XXI </a:t>
            </a:r>
            <a:r>
              <a:rPr lang="ru-RU" sz="1800" b="0" i="0" u="none" strike="noStrike" cap="none" dirty="0" err="1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столітті</a:t>
            </a:r>
            <a:r>
              <a:rPr lang="ru-RU" sz="1800" b="0" i="0" u="none" strike="noStrike" cap="none" dirty="0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»</a:t>
            </a:r>
          </a:p>
        </p:txBody>
      </p:sp>
      <p:sp>
        <p:nvSpPr>
          <p:cNvPr id="17" name="Google Shape;101;p14">
            <a:extLst>
              <a:ext uri="{FF2B5EF4-FFF2-40B4-BE49-F238E27FC236}">
                <a16:creationId xmlns:a16="http://schemas.microsoft.com/office/drawing/2014/main" id="{A06DAE13-F408-44F1-B5F4-D2A0A175CE82}"/>
              </a:ext>
            </a:extLst>
          </p:cNvPr>
          <p:cNvSpPr txBox="1"/>
          <p:nvPr/>
        </p:nvSpPr>
        <p:spPr>
          <a:xfrm>
            <a:off x="11449401" y="6145027"/>
            <a:ext cx="53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8FAFC"/>
                </a:solidFill>
                <a:latin typeface="Playfair Display"/>
                <a:sym typeface="Playfair Display"/>
              </a:rPr>
              <a:t>15</a:t>
            </a:r>
            <a:endParaRPr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2">
            <a:extLst>
              <a:ext uri="{FF2B5EF4-FFF2-40B4-BE49-F238E27FC236}">
                <a16:creationId xmlns:a16="http://schemas.microsoft.com/office/drawing/2014/main" id="{710ED468-91DC-4921-A939-30E82D358679}"/>
              </a:ext>
            </a:extLst>
          </p:cNvPr>
          <p:cNvSpPr/>
          <p:nvPr/>
        </p:nvSpPr>
        <p:spPr>
          <a:xfrm>
            <a:off x="0" y="0"/>
            <a:ext cx="12192000" cy="6895624"/>
          </a:xfrm>
          <a:custGeom>
            <a:avLst/>
            <a:gdLst/>
            <a:ahLst/>
            <a:cxnLst/>
            <a:rect l="l" t="t" r="r" b="b"/>
            <a:pathLst>
              <a:path w="18855697" h="10287000">
                <a:moveTo>
                  <a:pt x="0" y="0"/>
                </a:moveTo>
                <a:lnTo>
                  <a:pt x="18855697" y="0"/>
                </a:lnTo>
                <a:lnTo>
                  <a:pt x="1885569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69" r="-5669"/>
            </a:stretch>
          </a:blipFill>
        </p:spPr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88D9C5D9-7135-40CF-881D-26B0FA65B53F}"/>
              </a:ext>
            </a:extLst>
          </p:cNvPr>
          <p:cNvSpPr/>
          <p:nvPr/>
        </p:nvSpPr>
        <p:spPr>
          <a:xfrm>
            <a:off x="321845" y="1475110"/>
            <a:ext cx="11308180" cy="4867275"/>
          </a:xfrm>
          <a:custGeom>
            <a:avLst/>
            <a:gdLst/>
            <a:ahLst/>
            <a:cxnLst/>
            <a:rect l="l" t="t" r="r" b="b"/>
            <a:pathLst>
              <a:path w="18288000" h="8594388">
                <a:moveTo>
                  <a:pt x="0" y="0"/>
                </a:moveTo>
                <a:lnTo>
                  <a:pt x="18288000" y="0"/>
                </a:lnTo>
                <a:lnTo>
                  <a:pt x="18288000" y="8594388"/>
                </a:lnTo>
                <a:lnTo>
                  <a:pt x="0" y="859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4700" r="-4700"/>
            </a:stretch>
          </a:blipFill>
        </p:spPr>
        <p:txBody>
          <a:bodyPr/>
          <a:lstStyle/>
          <a:p>
            <a:endParaRPr lang="ru-RU" sz="1800" dirty="0">
              <a:solidFill>
                <a:schemeClr val="bg1">
                  <a:lumMod val="95000"/>
                </a:schemeClr>
              </a:solidFill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676275" y="485775"/>
            <a:ext cx="686085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150" b="1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Висновки</a:t>
            </a:r>
            <a:endParaRPr lang="ru-RU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485775" y="485775"/>
            <a:ext cx="57150" cy="533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bg1">
                  <a:lumMod val="8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4869A0-8575-4858-9C1E-6FE85B24EEEF}"/>
              </a:ext>
            </a:extLst>
          </p:cNvPr>
          <p:cNvSpPr txBox="1"/>
          <p:nvPr/>
        </p:nvSpPr>
        <p:spPr>
          <a:xfrm>
            <a:off x="485774" y="1810804"/>
            <a:ext cx="990951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• У межах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комплексної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кваліфікаційної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роботи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розроблено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функціональний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прототип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пригодницької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гри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«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The Last Rite» 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на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рушії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Unreal Engine 5.</a:t>
            </a:r>
          </a:p>
          <a:p>
            <a:pPr algn="just"/>
            <a:endParaRPr lang="en-US" sz="1800" dirty="0">
              <a:solidFill>
                <a:schemeClr val="bg1">
                  <a:lumMod val="9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algn="just"/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•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Реалізовано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ключові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елементи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ігрового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процесу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: систему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навігації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та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взаємодії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, головоломки,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діалогову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систему,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квестову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логіку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та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механізми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підтримки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прогресу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гравця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.</a:t>
            </a:r>
          </a:p>
          <a:p>
            <a:pPr algn="just"/>
            <a:endParaRPr lang="ru-RU" sz="1800" dirty="0">
              <a:solidFill>
                <a:schemeClr val="bg1">
                  <a:lumMod val="95000"/>
                </a:schemeClr>
              </a:solidFill>
              <a:ea typeface="Urbanist" panose="020B0604020202020204" charset="0"/>
              <a:cs typeface="Urbanist" panose="020B0604020202020204" charset="0"/>
            </a:endParaRPr>
          </a:p>
          <a:p>
            <a:pPr algn="just"/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•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Розроблено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підсистему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адаптивного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ігрового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балансу на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основі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моделі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CLI,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що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дозволяє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зменшити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кількість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тупикових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станів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та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підтримувати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темп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проходження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.</a:t>
            </a:r>
          </a:p>
          <a:p>
            <a:pPr algn="just"/>
            <a:endParaRPr lang="ru-RU" sz="1800" dirty="0">
              <a:solidFill>
                <a:schemeClr val="bg1">
                  <a:lumMod val="95000"/>
                </a:schemeClr>
              </a:solidFill>
              <a:ea typeface="Urbanist" panose="020B0604020202020204" charset="0"/>
              <a:cs typeface="Urbanist" panose="020B0604020202020204" charset="0"/>
            </a:endParaRPr>
          </a:p>
          <a:p>
            <a:pPr algn="just"/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• Створено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єдину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архітектуру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взаємодії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підсистем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із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використанням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Blueprint Visual Scripting, Data-Driven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підходу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та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Event-Driven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механізмів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.</a:t>
            </a:r>
          </a:p>
          <a:p>
            <a:pPr algn="just"/>
            <a:endParaRPr lang="ru-RU" sz="1800" dirty="0">
              <a:solidFill>
                <a:schemeClr val="bg1">
                  <a:lumMod val="95000"/>
                </a:schemeClr>
              </a:solidFill>
              <a:ea typeface="Urbanist" panose="020B0604020202020204" charset="0"/>
              <a:cs typeface="Urbanist" panose="020B0604020202020204" charset="0"/>
            </a:endParaRPr>
          </a:p>
          <a:p>
            <a:pPr algn="just"/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•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Проведене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тестування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та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демонстрація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проєкту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підтвердили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працездатність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реалізованих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рішень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і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можливість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подальшого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масштабування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ru-RU" sz="1800" dirty="0" err="1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гри</a:t>
            </a:r>
            <a:r>
              <a:rPr lang="ru-RU" sz="1800" dirty="0">
                <a:solidFill>
                  <a:schemeClr val="bg1">
                    <a:lumMod val="95000"/>
                  </a:schemeClr>
                </a:solidFill>
                <a:ea typeface="Urbanist" panose="020B0604020202020204" charset="0"/>
                <a:cs typeface="Urbanist" panose="020B0604020202020204" charset="0"/>
              </a:rPr>
              <a:t>.</a:t>
            </a:r>
          </a:p>
        </p:txBody>
      </p:sp>
      <p:sp>
        <p:nvSpPr>
          <p:cNvPr id="22" name="Google Shape;101;p14">
            <a:extLst>
              <a:ext uri="{FF2B5EF4-FFF2-40B4-BE49-F238E27FC236}">
                <a16:creationId xmlns:a16="http://schemas.microsoft.com/office/drawing/2014/main" id="{5CA98BB4-F733-4B7E-8D50-80BDF61E18CD}"/>
              </a:ext>
            </a:extLst>
          </p:cNvPr>
          <p:cNvSpPr txBox="1"/>
          <p:nvPr/>
        </p:nvSpPr>
        <p:spPr>
          <a:xfrm>
            <a:off x="11449401" y="6145027"/>
            <a:ext cx="5311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8FAFC"/>
                </a:solidFill>
                <a:latin typeface="Playfair Display"/>
                <a:sym typeface="Playfair Display"/>
              </a:rPr>
              <a:t>16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069632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5384" y="-111643"/>
            <a:ext cx="12897391" cy="6969643"/>
          </a:xfrm>
          <a:custGeom>
            <a:avLst/>
            <a:gdLst/>
            <a:ahLst/>
            <a:cxnLst/>
            <a:rect l="l" t="t" r="r" b="b"/>
            <a:pathLst>
              <a:path w="19346087" h="10454464">
                <a:moveTo>
                  <a:pt x="0" y="0"/>
                </a:moveTo>
                <a:lnTo>
                  <a:pt x="19346086" y="0"/>
                </a:lnTo>
                <a:lnTo>
                  <a:pt x="19346086" y="10454464"/>
                </a:lnTo>
                <a:lnTo>
                  <a:pt x="0" y="10454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09" r="-310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01428" y="864340"/>
            <a:ext cx="9969745" cy="1058283"/>
            <a:chOff x="0" y="38100"/>
            <a:chExt cx="19939490" cy="2116568"/>
          </a:xfrm>
        </p:grpSpPr>
        <p:sp>
          <p:nvSpPr>
            <p:cNvPr id="4" name="TextBox 4"/>
            <p:cNvSpPr txBox="1"/>
            <p:nvPr/>
          </p:nvSpPr>
          <p:spPr>
            <a:xfrm>
              <a:off x="0" y="1213767"/>
              <a:ext cx="19939490" cy="9409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15"/>
                </a:lnSpc>
              </a:pPr>
              <a:r>
                <a:rPr lang="en-US" sz="4253" b="1" spc="-115">
                  <a:solidFill>
                    <a:srgbClr val="FCCD8D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ДЯКУЮ  ЗА  УВАГУ !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987474" y="38100"/>
              <a:ext cx="6694834" cy="1073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31"/>
                </a:lnSpc>
              </a:pPr>
              <a:endParaRPr sz="933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459218" y="6140450"/>
            <a:ext cx="195566" cy="22685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867"/>
              </a:lnSpc>
              <a:spcBef>
                <a:spcPct val="0"/>
              </a:spcBef>
            </a:pPr>
            <a:r>
              <a:rPr lang="en-US" sz="1333"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573</Words>
  <Application>Microsoft Office PowerPoint</Application>
  <PresentationFormat>Широкоэкранный</PresentationFormat>
  <Paragraphs>116</Paragraphs>
  <Slides>17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7" baseType="lpstr">
      <vt:lpstr>Calibri</vt:lpstr>
      <vt:lpstr>Barlow Condensed Bold</vt:lpstr>
      <vt:lpstr>Urbanist Medium</vt:lpstr>
      <vt:lpstr>Urbanist</vt:lpstr>
      <vt:lpstr>Open Sans</vt:lpstr>
      <vt:lpstr>Bahnschrift Light</vt:lpstr>
      <vt:lpstr>Arial</vt:lpstr>
      <vt:lpstr>Barlow Condensed Semi-Bold</vt:lpstr>
      <vt:lpstr>Playfair Display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Maria</dc:creator>
  <cp:lastModifiedBy>Mariia Kushnarenko</cp:lastModifiedBy>
  <cp:revision>32</cp:revision>
  <dcterms:modified xsi:type="dcterms:W3CDTF">2026-06-24T00:28:00Z</dcterms:modified>
</cp:coreProperties>
</file>